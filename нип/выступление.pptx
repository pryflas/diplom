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5" d="100"/>
          <a:sy n="115" d="100"/>
        </p:scale>
        <p:origin x="70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6B60EC-399E-41E6-A627-F36DBB028BC7}" type="datetimeFigureOut">
              <a:rPr lang="ru-RU" smtClean="0"/>
              <a:t>22.12.2025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F551A4-4F0F-4C3B-BE50-13B86729C6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26453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5a32bfd86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5a32bfd86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2ded6f068ec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2ded6f068ec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5a32bfd86c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5a32bfd86c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5a32bfd86c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5a32bfd86c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5a32bfd86c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5a32bfd86c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77670eeeea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77670eeeea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2F8905-0246-022E-0406-7BCB0AF6CA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7EDD5A0-51BD-6CC7-0EA8-D53E478C1B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7A3AE01-BDD2-4A1D-7706-1508560F78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387C0-B721-4D5D-A8E6-4F1C92DFDDC3}" type="datetimeFigureOut">
              <a:rPr lang="ru-RU" smtClean="0"/>
              <a:t>22.12.2025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D45073A-C5D9-32A7-4E01-ADAD07D7C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F792D33-CC95-C035-C229-DCA4B5E10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952E6-8BA5-45AB-876F-C1FE16B923F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51882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D3B1DF-E3CC-C1F4-EFC4-97DF4D913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37A59E4-4AA8-7673-8861-C2C9A97B7E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3096C29-FCD6-9A1E-EC53-9BAFF7FFF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387C0-B721-4D5D-A8E6-4F1C92DFDDC3}" type="datetimeFigureOut">
              <a:rPr lang="ru-RU" smtClean="0"/>
              <a:t>22.12.2025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C88CA3F-D20E-4895-7079-BA2CDA882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812EDEC-7274-EDFF-D922-02D795C7A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952E6-8BA5-45AB-876F-C1FE16B923F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943666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F5D3F7-8920-1078-0F1C-F95E3BA60F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41874B4-6DCB-28F4-C8E0-B8199A7AA6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4038497-AE0E-17E9-76D2-862554A16D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387C0-B721-4D5D-A8E6-4F1C92DFDDC3}" type="datetimeFigureOut">
              <a:rPr lang="ru-RU" smtClean="0"/>
              <a:t>22.12.2025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26DABCA-FFCA-9535-5360-BCCCE89D99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777293C-8FBF-F986-B597-3B4285BB4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952E6-8BA5-45AB-876F-C1FE16B923F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67410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7F5A8E-DBE9-5505-51A5-63D285299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D0822A5-C62A-58E1-0C26-4C335EFB77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C773A17-0EA2-95B8-C38C-33C8AEC90F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7A40120-1A88-5AD2-4B62-52EEAE4AC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387C0-B721-4D5D-A8E6-4F1C92DFDDC3}" type="datetimeFigureOut">
              <a:rPr lang="ru-RU" smtClean="0"/>
              <a:t>22.12.2025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37CE081-5626-115A-C7BF-196B79EF0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E219556-39FE-9DBB-0ACD-26363EE1F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952E6-8BA5-45AB-876F-C1FE16B923F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77450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52A38E-23D6-7FF9-AF12-A9DA4E0CCE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5BF034B-261A-383A-EF89-52C37BA481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370E093-A8EE-253C-9166-23D890ED8D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C960CA44-BF12-BC00-AF06-C1F59D18AB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0AB2D2B2-2958-8553-16B6-44374DC9EF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A42185FC-DEE0-F23A-EC6B-871B1DB583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387C0-B721-4D5D-A8E6-4F1C92DFDDC3}" type="datetimeFigureOut">
              <a:rPr lang="ru-RU" smtClean="0"/>
              <a:t>22.12.2025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1E6DD46D-A036-6A43-AA78-ACBAAE90D8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70B8F707-F290-AFF3-8BB5-EEB6A4C74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952E6-8BA5-45AB-876F-C1FE16B923F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20754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847795-CFD8-5F7E-F94E-9749C18CE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86E378C0-1446-146B-B649-9D3E61E99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387C0-B721-4D5D-A8E6-4F1C92DFDDC3}" type="datetimeFigureOut">
              <a:rPr lang="ru-RU" smtClean="0"/>
              <a:t>22.12.2025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54D0334-538D-6054-2328-776679313C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46BAD4A-C24A-D07F-D0B7-640462118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952E6-8BA5-45AB-876F-C1FE16B923F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34260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A33EB2D3-458D-77E0-A85D-7097314AD8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387C0-B721-4D5D-A8E6-4F1C92DFDDC3}" type="datetimeFigureOut">
              <a:rPr lang="ru-RU" smtClean="0"/>
              <a:t>22.12.2025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23801672-3861-1006-0291-330F85EA5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8EA082B-321B-43C5-2B5E-8058A406F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952E6-8BA5-45AB-876F-C1FE16B923F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49596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5219EF-4BB3-3A41-ED23-744C41CF0A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1FBE8AB-7BBA-0C19-B4E6-E0C33ABB54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FE28832-596C-25AE-4426-DC28E34428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B2721BB-4966-7F01-5BBD-45E8B56E9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387C0-B721-4D5D-A8E6-4F1C92DFDDC3}" type="datetimeFigureOut">
              <a:rPr lang="ru-RU" smtClean="0"/>
              <a:t>22.12.2025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3D58FBD-B973-4C00-7889-36D2717A3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8A5381C-0D67-4B32-5A24-5F7C045E3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952E6-8BA5-45AB-876F-C1FE16B923F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21064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C07E96-4A99-2754-8ED9-990137AA4D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E6289CE1-69CC-7C4D-C404-E37F8E582E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1D151B5-1650-84CF-7C19-CB9EF9BA86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9BE62E1-53A9-943A-7E6C-379241F6C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387C0-B721-4D5D-A8E6-4F1C92DFDDC3}" type="datetimeFigureOut">
              <a:rPr lang="ru-RU" smtClean="0"/>
              <a:t>22.12.2025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9E889F4-2DA0-A64F-EA55-3517A7181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FADD3B1-189B-B5C9-A3F1-C69811A7F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952E6-8BA5-45AB-876F-C1FE16B923F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794976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69B037-78B3-0C2F-92EA-2C59CAD91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BC8493D-40D8-8ACE-3AD7-057A28F833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5384B4A-F9AC-B851-5386-C4F0D911A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387C0-B721-4D5D-A8E6-4F1C92DFDDC3}" type="datetimeFigureOut">
              <a:rPr lang="ru-RU" smtClean="0"/>
              <a:t>22.12.2025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873C1B6-4851-700C-FFE7-DA0EB3BF85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387A184-01B2-9365-3F20-FE89EEBA7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952E6-8BA5-45AB-876F-C1FE16B923F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19770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E9D8C041-44CD-1367-782D-AC277792B1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3F03FDD-7F54-F863-F373-6A23574D5E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29847AA-1C2D-F0D6-EB85-CC513E2E34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387C0-B721-4D5D-A8E6-4F1C92DFDDC3}" type="datetimeFigureOut">
              <a:rPr lang="ru-RU" smtClean="0"/>
              <a:t>22.12.2025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4195843-4ED9-2D9F-5F8F-DCEB752FA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E553E4C-728F-8D3B-AC5A-83DA99AFA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952E6-8BA5-45AB-876F-C1FE16B923F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142988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6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5904545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2B66A4-46F9-175D-F2B4-7E6269258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6907EDD-5543-F166-919F-83F40EBC2F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67A4B4E-FC44-5A23-14FD-C8531325E2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B387C0-B721-4D5D-A8E6-4F1C92DFDDC3}" type="datetimeFigureOut">
              <a:rPr lang="ru-RU" smtClean="0"/>
              <a:t>22.12.2025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CFC8937-1CDC-D9AB-2F7B-BA4F779096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05FB6FA-0C25-1CAF-26CE-6073FEEECD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5952E6-8BA5-45AB-876F-C1FE16B923F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01176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1835708" y="992767"/>
            <a:ext cx="8520600" cy="27369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b" anchorCtr="0">
            <a:noAutofit/>
          </a:bodyPr>
          <a:lstStyle/>
          <a:p>
            <a:pPr algn="ctr"/>
            <a:r>
              <a:rPr lang="ru-NL" sz="2400" cap="small" spc="25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cap="all" spc="25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НЕЙРОННАЯ СЕТЬ ДЛЯ ПРОГНОЗИРОВАНИЯ РИСКА ЗАБОЛЕВАНИЙ НА ОСНОВЕ МНОГОМЕРНЫХ ДАННЫХ</a:t>
            </a:r>
            <a:endParaRPr lang="ru-NL" sz="24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1698750" y="5281200"/>
            <a:ext cx="9300554" cy="11271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pPr algn="l">
              <a:spcBef>
                <a:spcPts val="0"/>
              </a:spcBef>
            </a:pPr>
            <a:r>
              <a:rPr lang="e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Выполнил: 			</a:t>
            </a:r>
            <a:r>
              <a:rPr lang="ru-RU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Мордасов Евгений Дмитриевич</a:t>
            </a:r>
            <a:r>
              <a:rPr lang="e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гр. </a:t>
            </a:r>
            <a:r>
              <a:rPr lang="ru-RU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2383</a:t>
            </a:r>
            <a:endParaRPr sz="18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Bef>
                <a:spcPts val="0"/>
              </a:spcBef>
            </a:pPr>
            <a:r>
              <a:rPr lang="e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Руководитель:			</a:t>
            </a:r>
            <a:r>
              <a:rPr lang="ru-RU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Борисенко</a:t>
            </a:r>
            <a:r>
              <a:rPr lang="e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Константин </a:t>
            </a:r>
            <a:r>
              <a:rPr lang="e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Алексеевич., к.т.н., доцент</a:t>
            </a:r>
            <a:endParaRPr sz="18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1524000" y="0"/>
            <a:ext cx="9144000" cy="7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Санкт-Петербургский государственный электротехнический университет им. В.И. Уль</a:t>
            </a:r>
            <a:r>
              <a:rPr lang="e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янова</a:t>
            </a: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Ленина</a:t>
            </a: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1524000" y="6408300"/>
            <a:ext cx="9144000" cy="36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Санкт-Петербург</a:t>
            </a: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" dirty="0">
                <a:highlight>
                  <a:schemeClr val="lt1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2026</a:t>
            </a:r>
            <a:endParaRPr dirty="0">
              <a:highlight>
                <a:schemeClr val="lt1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>
            <a:spLocks noGrp="1"/>
          </p:cNvSpPr>
          <p:nvPr>
            <p:ph type="title"/>
          </p:nvPr>
        </p:nvSpPr>
        <p:spPr>
          <a:xfrm>
            <a:off x="885206" y="256483"/>
            <a:ext cx="8520600" cy="7635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r>
              <a:rPr lang="e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Цель</a:t>
            </a: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</a:t>
            </a: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задачи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Google Shape;63;p14"/>
          <p:cNvSpPr txBox="1">
            <a:spLocks noGrp="1"/>
          </p:cNvSpPr>
          <p:nvPr>
            <p:ph type="body" idx="1"/>
          </p:nvPr>
        </p:nvSpPr>
        <p:spPr>
          <a:xfrm>
            <a:off x="885206" y="886415"/>
            <a:ext cx="8520600" cy="5971585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pPr marL="0" indent="0" algn="just">
              <a:buNone/>
            </a:pPr>
            <a:r>
              <a:rPr lang="en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Актуальность: </a:t>
            </a: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Раннее и точное прогнозирование риска заболеваний позволяет своевременно организовать профилактические мероприятия. Современные методы на основе нейронных сетей демонстрируют высокую точность и адаптивность при работе с многомерными медицинскими. Нейросетевые подходы показывают потенциал в повышении точности прогнозирования, что делает их актуальными для внедрения в системы поддержки принятия врачебных решений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Цель</a:t>
            </a:r>
            <a:r>
              <a:rPr lang="en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разработать нейросетевую модель для прогнозирования риска заболеваний на основе многомерных клинических данных, обеспечивающую AUC-ROC не менее 90%.</a:t>
            </a:r>
          </a:p>
          <a:p>
            <a:pPr marL="0" indent="0" algn="just">
              <a:buNone/>
            </a:pPr>
            <a:r>
              <a:rPr lang="ru-RU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Задачи</a:t>
            </a: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342900" algn="just">
              <a:buFont typeface="+mj-lt"/>
              <a:buAutoNum type="arabicPeriod"/>
            </a:pP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Выполнить обзор нейросетевых и ML-методов прогнозирования риска заболеваний.</a:t>
            </a:r>
          </a:p>
          <a:p>
            <a:pPr marL="342900" algn="just">
              <a:buFont typeface="+mj-lt"/>
              <a:buAutoNum type="arabicPeriod"/>
            </a:pP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Спроектировать архитектуру нейросети с учётом особенностей многомерных данных.</a:t>
            </a:r>
          </a:p>
          <a:p>
            <a:pPr marL="342900" algn="just">
              <a:buFont typeface="+mj-lt"/>
              <a:buAutoNum type="arabicPeriod"/>
            </a:pP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Обучить модель, подобрать </a:t>
            </a:r>
            <a:r>
              <a:rPr lang="ru-RU" sz="2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гиперпараметры</a:t>
            </a: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провести оценку по метрикам (AUC-ROC, точность, полнота, F1).</a:t>
            </a:r>
          </a:p>
          <a:p>
            <a:pPr marL="342900" algn="just">
              <a:buFont typeface="+mj-lt"/>
              <a:buAutoNum type="arabicPeriod"/>
            </a:pP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Сравнить полученную модель с классическими алгоритмами (логистическая регрессия, деревья решений, </a:t>
            </a:r>
            <a:r>
              <a:rPr lang="ru-RU" sz="2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бустинг</a:t>
            </a: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и проанализировать результаты.</a:t>
            </a:r>
          </a:p>
          <a:p>
            <a:pPr marL="342900" algn="just">
              <a:buFont typeface="+mj-lt"/>
              <a:buAutoNum type="arabicPeriod"/>
            </a:pP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Исследовать интерпретируемость модели с помощью SHAP.</a:t>
            </a:r>
          </a:p>
        </p:txBody>
      </p:sp>
      <p:sp>
        <p:nvSpPr>
          <p:cNvPr id="64" name="Google Shape;64;p14"/>
          <p:cNvSpPr txBox="1">
            <a:spLocks noGrp="1"/>
          </p:cNvSpPr>
          <p:nvPr>
            <p:ph type="sldNum" idx="12"/>
          </p:nvPr>
        </p:nvSpPr>
        <p:spPr>
          <a:xfrm>
            <a:off x="9996458" y="6217622"/>
            <a:ext cx="548700" cy="524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>
            <a:spLocks noGrp="1"/>
          </p:cNvSpPr>
          <p:nvPr>
            <p:ph type="title"/>
          </p:nvPr>
        </p:nvSpPr>
        <p:spPr>
          <a:xfrm>
            <a:off x="1835700" y="593367"/>
            <a:ext cx="8520600" cy="7635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</a:t>
            </a:r>
            <a:r>
              <a:rPr lang="e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остановк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задач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Google Shape;70;p15"/>
          <p:cNvSpPr txBox="1">
            <a:spLocks noGrp="1"/>
          </p:cNvSpPr>
          <p:nvPr>
            <p:ph type="body" idx="1"/>
          </p:nvPr>
        </p:nvSpPr>
        <p:spPr>
          <a:xfrm>
            <a:off x="1750208" y="1808303"/>
            <a:ext cx="8520600" cy="45552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pPr marL="76200" indent="0" algn="just">
              <a:buClr>
                <a:srgbClr val="000000"/>
              </a:buClr>
              <a:buSzPts val="2400"/>
              <a:buNone/>
            </a:pP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ПРОБЛЕМА: Разработать интерпретируемую нейросетевую систему, достигающую одновременно высокую точность И объяснимость</a:t>
            </a:r>
          </a:p>
          <a:p>
            <a:pPr marL="76200" indent="0" algn="just">
              <a:buClr>
                <a:srgbClr val="000000"/>
              </a:buClr>
              <a:buSzPts val="2400"/>
              <a:buNone/>
            </a:pP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ДАННЫЕ: Табличные медицинские данные (40 признаков) с дисбалансом классов (~70% здоровых, ~30% больных)</a:t>
            </a:r>
          </a:p>
          <a:p>
            <a:pPr marL="76200" indent="0" algn="just">
              <a:buClr>
                <a:srgbClr val="000000"/>
              </a:buClr>
              <a:buSzPts val="2400"/>
              <a:buNone/>
            </a:pP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ТРЕБОВАНИЯ: AUC-ROC ≥ 0.90 И клинически обоснованные объяснения через SHAP-значения</a:t>
            </a:r>
          </a:p>
        </p:txBody>
      </p:sp>
      <p:sp>
        <p:nvSpPr>
          <p:cNvPr id="71" name="Google Shape;71;p15"/>
          <p:cNvSpPr txBox="1">
            <a:spLocks noGrp="1"/>
          </p:cNvSpPr>
          <p:nvPr>
            <p:ph type="sldNum" idx="12"/>
          </p:nvPr>
        </p:nvSpPr>
        <p:spPr>
          <a:xfrm>
            <a:off x="9996458" y="6217622"/>
            <a:ext cx="548700" cy="524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>
            <a:spLocks noGrp="1"/>
          </p:cNvSpPr>
          <p:nvPr>
            <p:ph type="title"/>
          </p:nvPr>
        </p:nvSpPr>
        <p:spPr>
          <a:xfrm>
            <a:off x="1750208" y="389261"/>
            <a:ext cx="8520600" cy="7635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архитектур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7" name="Google Shape;77;p16"/>
          <p:cNvSpPr txBox="1">
            <a:spLocks noGrp="1"/>
          </p:cNvSpPr>
          <p:nvPr>
            <p:ph type="sldNum" idx="12"/>
          </p:nvPr>
        </p:nvSpPr>
        <p:spPr>
          <a:xfrm>
            <a:off x="9996458" y="6217622"/>
            <a:ext cx="548700" cy="524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4</a:t>
            </a:fld>
            <a:endParaRPr/>
          </a:p>
        </p:txBody>
      </p:sp>
      <p:sp>
        <p:nvSpPr>
          <p:cNvPr id="79" name="Google Shape;79;p16"/>
          <p:cNvSpPr txBox="1"/>
          <p:nvPr/>
        </p:nvSpPr>
        <p:spPr>
          <a:xfrm>
            <a:off x="1216341" y="1229714"/>
            <a:ext cx="8521700" cy="3354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just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Сравнены 5 парадигм ML по 3 критериям: точность (AUC-ROC), обработка табличных данных, интерпретируемость</a:t>
            </a:r>
          </a:p>
          <a:p>
            <a:pPr algn="just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GBDT (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CatBoost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 Лидер по встроенной обработке данных (баллы 2,2,1), но требует SHAP для объяснений</a:t>
            </a:r>
          </a:p>
          <a:p>
            <a:pPr algn="just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DNN: Сравнимая точность (1,1,1), требует кодирования признаков, SMOTE и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class_weights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LSTM: Низкая эффективность на статических данных (0,0,1), так как временная структура отсутствует</a:t>
            </a:r>
          </a:p>
          <a:p>
            <a:pPr algn="just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GBDT+SHAP/LIME: ЛУЧШИЙ БАЛАНС (2,2,2) — высокая точность + критическая интерпретируемость</a:t>
            </a:r>
          </a:p>
          <a:p>
            <a:pPr algn="just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Трансформеры: Перспективны, но менее зрелы, требуют GPU и больше данных (1,1,2)</a:t>
            </a:r>
          </a:p>
          <a:p>
            <a:pPr algn="just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ВЫВОД: Гибридные ансамбли с SHAP обеспечивают оптимальный баланс для клинического применения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>
            <a:spLocks noGrp="1"/>
          </p:cNvSpPr>
          <p:nvPr>
            <p:ph type="title"/>
          </p:nvPr>
        </p:nvSpPr>
        <p:spPr>
          <a:xfrm>
            <a:off x="1318341" y="223962"/>
            <a:ext cx="9895089" cy="7635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Выбор и обоснование метода решения</a:t>
            </a:r>
          </a:p>
        </p:txBody>
      </p:sp>
      <p:sp>
        <p:nvSpPr>
          <p:cNvPr id="86" name="Google Shape;86;p17"/>
          <p:cNvSpPr txBox="1">
            <a:spLocks noGrp="1"/>
          </p:cNvSpPr>
          <p:nvPr>
            <p:ph type="sldNum" idx="12"/>
          </p:nvPr>
        </p:nvSpPr>
        <p:spPr>
          <a:xfrm>
            <a:off x="9996458" y="6217622"/>
            <a:ext cx="548700" cy="524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5</a:t>
            </a:fld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3AA310-6E70-AADC-EB76-9B879289D66F}"/>
              </a:ext>
            </a:extLst>
          </p:cNvPr>
          <p:cNvSpPr txBox="1"/>
          <p:nvPr/>
        </p:nvSpPr>
        <p:spPr>
          <a:xfrm>
            <a:off x="868017" y="1693307"/>
            <a:ext cx="10913165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Выбрана: Гибридная архитектура (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DNN + SHAP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интерпретируемости)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Компонента 1 – Предварительная обработка: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StandardScaler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нормализация) →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Label Encoding (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категории) →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Mean/Mode Imputation (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пропуски) →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SMOTE (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дисбаланс)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Компонента 2 – Нейросетевой классификатор (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MLP):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Input(40) → Dense(128,ReLU)+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BatchNorm+Dropout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(0.3) → Dense(64,ReLU)+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BatchNorm+Dropout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(0.3) → Dense(32,ReLU)+Dropout(0.3) → Dense(1,Sigmoid)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Компонента 3 – Интерпретируемость: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SHAP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глобальных объяснений (вклад признаков) и локальных (конкретный пациент)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>
            <a:spLocks noGrp="1"/>
          </p:cNvSpPr>
          <p:nvPr>
            <p:ph type="title"/>
          </p:nvPr>
        </p:nvSpPr>
        <p:spPr>
          <a:xfrm>
            <a:off x="1835700" y="115678"/>
            <a:ext cx="8520600" cy="7635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pPr lvl="0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Архитектурные принципы</a:t>
            </a:r>
          </a:p>
        </p:txBody>
      </p:sp>
      <p:sp>
        <p:nvSpPr>
          <p:cNvPr id="94" name="Google Shape;94;p18"/>
          <p:cNvSpPr txBox="1">
            <a:spLocks noGrp="1"/>
          </p:cNvSpPr>
          <p:nvPr>
            <p:ph type="sldNum" idx="12"/>
          </p:nvPr>
        </p:nvSpPr>
        <p:spPr>
          <a:xfrm>
            <a:off x="9996458" y="6217622"/>
            <a:ext cx="548700" cy="524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6</a:t>
            </a:fld>
            <a:endParaRPr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3292C0B-0C0B-3A55-3FE4-68FD465F1A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960163"/>
            <a:ext cx="11360800" cy="4555200"/>
          </a:xfrm>
        </p:spPr>
        <p:txBody>
          <a:bodyPr/>
          <a:lstStyle/>
          <a:p>
            <a:pPr marL="114300" indent="0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Разделение: 70% обучение, 15% валидация, 15% тестирование со стратификацией по целевой переменной</a:t>
            </a:r>
          </a:p>
          <a:p>
            <a:pPr marL="114300" indent="0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SMOTE только на обучении: Синтез примеров меньшинства (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sampling_strategy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=0.7) без утечки в валидацию</a:t>
            </a:r>
          </a:p>
          <a:p>
            <a:pPr marL="114300" indent="0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Нормализация (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StandardScaler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 К среднему 0, дисперсии 1, что критично для сходимости DNN</a:t>
            </a:r>
          </a:p>
          <a:p>
            <a:pPr marL="114300" indent="0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Регуляризация: Чередование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Dropout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(0.3) и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Batch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Normalization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предотвращает переобучение</a:t>
            </a:r>
          </a:p>
          <a:p>
            <a:pPr marL="114300" indent="0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SHAP для интерпретируемости: Теория кооперативных игр → вклад каждого признака в предсказание</a:t>
            </a:r>
          </a:p>
          <a:p>
            <a:pPr marL="114300" indent="0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Методология валидации:</a:t>
            </a:r>
          </a:p>
          <a:p>
            <a:pPr marL="114300" indent="0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Early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stopping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(10 эпох без улучшения) и Мониторинг AUC-ROC,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Accuracy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Precision,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Recall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F1</a:t>
            </a:r>
          </a:p>
          <a:p>
            <a:pPr marL="114300" indent="0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Параллельное обучение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CatBoost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как бенчмарка (часто AUC 0.92–0.95 на сырых данных)</a:t>
            </a:r>
          </a:p>
          <a:p>
            <a:pPr marL="114300" indent="0">
              <a:buNone/>
            </a:pP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>
            <a:spLocks noGrp="1"/>
          </p:cNvSpPr>
          <p:nvPr>
            <p:ph type="title"/>
          </p:nvPr>
        </p:nvSpPr>
        <p:spPr>
          <a:xfrm>
            <a:off x="1835700" y="314968"/>
            <a:ext cx="8520600" cy="7635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pPr lvl="0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Заключение и результаты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2" name="Google Shape;102;p19"/>
          <p:cNvSpPr txBox="1">
            <a:spLocks noGrp="1"/>
          </p:cNvSpPr>
          <p:nvPr>
            <p:ph type="sldNum" idx="12"/>
          </p:nvPr>
        </p:nvSpPr>
        <p:spPr>
          <a:xfrm>
            <a:off x="9996458" y="6217622"/>
            <a:ext cx="548700" cy="524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7</a:t>
            </a:fld>
            <a:endParaRPr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FD69D03-CB61-12E2-7CF3-DD343462BA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9821" y="1370445"/>
            <a:ext cx="11360800" cy="4555200"/>
          </a:xfrm>
        </p:spPr>
        <p:txBody>
          <a:bodyPr/>
          <a:lstStyle/>
          <a:p>
            <a:pPr marL="114300" indent="0">
              <a:buNone/>
            </a:pPr>
            <a:r>
              <a:rPr lang="ru-RU" dirty="0"/>
              <a:t>Задача 1: Проведён анализ 5 парадигм ML → выявлены ограничения, утверждены критерии</a:t>
            </a:r>
          </a:p>
          <a:p>
            <a:pPr marL="114300" indent="0">
              <a:buNone/>
            </a:pPr>
            <a:r>
              <a:rPr lang="ru-RU" dirty="0"/>
              <a:t>Задача 2: GBDT демонстрируют лучший профиль, но гибридные ансамбли GBDT+SHAP дают оптимальный баланс</a:t>
            </a:r>
          </a:p>
          <a:p>
            <a:pPr marL="114300" indent="0">
              <a:buNone/>
            </a:pPr>
            <a:r>
              <a:rPr lang="ru-RU" dirty="0"/>
              <a:t>Задача 3: Спроектирована гибридная архитектура (3-слойная DNN + SHAP) обеспечивающая AUC-ROC≥0.90 И интерпретируемость</a:t>
            </a:r>
          </a:p>
          <a:p>
            <a:pPr marL="114300" indent="0">
              <a:buNone/>
            </a:pPr>
            <a:r>
              <a:rPr lang="ru-RU" dirty="0"/>
              <a:t>  </a:t>
            </a:r>
          </a:p>
          <a:p>
            <a:pPr marL="114300" indent="0">
              <a:buNone/>
            </a:pPr>
            <a:r>
              <a:rPr lang="ru-RU" dirty="0"/>
              <a:t>Спасибо за внимание! Готов к вопросам.</a:t>
            </a:r>
          </a:p>
          <a:p>
            <a:pPr marL="114300" indent="0">
              <a:buNone/>
            </a:pPr>
            <a:endParaRPr lang="ru-RU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701</Words>
  <Application>Microsoft Office PowerPoint</Application>
  <PresentationFormat>Широкоэкранный</PresentationFormat>
  <Paragraphs>55</Paragraphs>
  <Slides>7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Times New Roman</vt:lpstr>
      <vt:lpstr>Тема Office</vt:lpstr>
      <vt:lpstr> НЕЙРОННАЯ СЕТЬ ДЛЯ ПРОГНОЗИРОВАНИЯ РИСКА ЗАБОЛЕВАНИЙ НА ОСНОВЕ МНОГОМЕРНЫХ ДАННЫХ</vt:lpstr>
      <vt:lpstr>Цель и задачи</vt:lpstr>
      <vt:lpstr>Постановка задачи</vt:lpstr>
      <vt:lpstr>Анализ архитектур</vt:lpstr>
      <vt:lpstr>Выбор и обоснование метода решения</vt:lpstr>
      <vt:lpstr>Архитектурные принципы</vt:lpstr>
      <vt:lpstr>Заключение и результаты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Женя Женя</dc:creator>
  <cp:lastModifiedBy>Женя Женя</cp:lastModifiedBy>
  <cp:revision>1</cp:revision>
  <dcterms:created xsi:type="dcterms:W3CDTF">2025-12-21T22:43:08Z</dcterms:created>
  <dcterms:modified xsi:type="dcterms:W3CDTF">2025-12-22T00:01:22Z</dcterms:modified>
</cp:coreProperties>
</file>