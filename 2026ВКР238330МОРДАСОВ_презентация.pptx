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67" r:id="rId4"/>
    <p:sldId id="259" r:id="rId5"/>
    <p:sldId id="260" r:id="rId6"/>
    <p:sldId id="261" r:id="rId7"/>
    <p:sldId id="268" r:id="rId8"/>
    <p:sldId id="262" r:id="rId9"/>
    <p:sldId id="269" r:id="rId10"/>
    <p:sldId id="270" r:id="rId11"/>
    <p:sldId id="263" r:id="rId12"/>
    <p:sldId id="264" r:id="rId13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F2622C5-1773-4020-970C-73601510C965}">
  <a:tblStyle styleId="{0F2622C5-1773-4020-970C-73601510C96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1810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5a32bfd86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5a32bfd86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5a32bfd86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5a32bfd86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5a32bfd86c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5a32bfd86c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5a32bfd86c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5a32bfd86c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5a32bfd86c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5a32bfd86c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5a32bfd86c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5a32bfd86c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50856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77670eeeea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77670eeeea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5a32bfd86c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5a32bfd86c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39104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5a32bfd86c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5a32bfd86c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0313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5a32bfd86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5a32bfd86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5a32bfd86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5a32bfd86c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992767"/>
            <a:ext cx="8520600" cy="273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778833"/>
            <a:ext cx="8520600" cy="105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867800"/>
            <a:ext cx="8520600" cy="112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39999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536633"/>
            <a:ext cx="39999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852800"/>
            <a:ext cx="2808000" cy="423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6367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67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644233"/>
            <a:ext cx="4045200" cy="19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3737433"/>
            <a:ext cx="4045200" cy="16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965433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5640767"/>
            <a:ext cx="5998800" cy="80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474833"/>
            <a:ext cx="8520600" cy="2618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4202967"/>
            <a:ext cx="8520600" cy="173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ryflas/diplom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91080" y="1900541"/>
            <a:ext cx="8361839" cy="268590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400" dirty="0"/>
              <a:t>НЕЙРОННАЯ СЕТЬ ДЛЯ ПРОГНОЗИРОВАНИЯ РИСКА ЗАБОЛЕВАНИЙ НА ОСНОВЕ МНОГОМЕРНЫХ ДАННЫХ</a:t>
            </a:r>
            <a:endParaRPr sz="4400"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74750" y="4871300"/>
            <a:ext cx="87945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000000"/>
                </a:solidFill>
              </a:rPr>
              <a:t>Выполнил: 									</a:t>
            </a:r>
            <a:r>
              <a:rPr lang="ru-RU" sz="1800" dirty="0">
                <a:solidFill>
                  <a:srgbClr val="000000"/>
                </a:solidFill>
              </a:rPr>
              <a:t>Мордасов Евгений Дмитриевич</a:t>
            </a:r>
            <a:r>
              <a:rPr lang="en" sz="1800" dirty="0">
                <a:solidFill>
                  <a:srgbClr val="000000"/>
                </a:solidFill>
              </a:rPr>
              <a:t>, гр. </a:t>
            </a:r>
            <a:r>
              <a:rPr lang="ru-RU" sz="1800" dirty="0">
                <a:solidFill>
                  <a:srgbClr val="000000"/>
                </a:solidFill>
              </a:rPr>
              <a:t>2383</a:t>
            </a:r>
            <a:endParaRPr sz="18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000000"/>
                </a:solidFill>
              </a:rPr>
              <a:t>Руководитель:							</a:t>
            </a:r>
            <a:endParaRPr lang="ru-RU" sz="18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>
                <a:solidFill>
                  <a:srgbClr val="000000"/>
                </a:solidFill>
              </a:rPr>
              <a:t>	Борисенко Константин Алексеевич</a:t>
            </a:r>
            <a:r>
              <a:rPr lang="en" sz="1800" dirty="0">
                <a:solidFill>
                  <a:srgbClr val="000000"/>
                </a:solidFill>
              </a:rPr>
              <a:t>, к.т.н., доцент</a:t>
            </a:r>
            <a:endParaRPr sz="1800" dirty="0">
              <a:solidFill>
                <a:srgbClr val="000000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0" y="0"/>
            <a:ext cx="9144000" cy="7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Санкт-Петербургский государственный электротехнический университет им. </a:t>
            </a:r>
            <a:endParaRPr sz="18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В.И. Ульянова (Ленина)</a:t>
            </a:r>
            <a:endParaRPr sz="1800" dirty="0"/>
          </a:p>
        </p:txBody>
      </p:sp>
      <p:sp>
        <p:nvSpPr>
          <p:cNvPr id="57" name="Google Shape;57;p13"/>
          <p:cNvSpPr txBox="1"/>
          <p:nvPr/>
        </p:nvSpPr>
        <p:spPr>
          <a:xfrm>
            <a:off x="0" y="6408300"/>
            <a:ext cx="9144000" cy="36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Санкт-Петербург, </a:t>
            </a:r>
            <a:r>
              <a:rPr lang="ru-RU" sz="1800" dirty="0">
                <a:solidFill>
                  <a:schemeClr val="tx1"/>
                </a:solidFill>
              </a:rPr>
              <a:t>2026</a:t>
            </a:r>
            <a:endParaRPr sz="18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Актуальность работы.</a:t>
            </a:r>
            <a:endParaRPr dirty="0"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rgbClr val="000000"/>
                </a:solidFill>
              </a:rPr>
              <a:t>Актуальность: </a:t>
            </a:r>
            <a:r>
              <a:rPr lang="ru-RU" sz="2400" dirty="0">
                <a:solidFill>
                  <a:srgbClr val="000000"/>
                </a:solidFill>
              </a:rPr>
              <a:t>своевременное прогнозирование заболевания позволяет снизить нагрузку на систему здравоохранения, уменьшить расходы, дает больше времени на исследование болезни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000000"/>
                </a:solidFill>
              </a:rPr>
              <a:t>Ручная проверка:</a:t>
            </a:r>
            <a:endParaRPr sz="2400" dirty="0">
              <a:solidFill>
                <a:srgbClr val="000000"/>
              </a:solidFill>
            </a:endParaRPr>
          </a:p>
          <a:p>
            <a:pPr marL="457200" lvl="0" indent="-381000" algn="l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Char char="●"/>
            </a:pPr>
            <a:r>
              <a:rPr lang="en" sz="2400" dirty="0">
                <a:solidFill>
                  <a:srgbClr val="000000"/>
                </a:solidFill>
              </a:rPr>
              <a:t>занимает слишком много времени</a:t>
            </a:r>
            <a:endParaRPr sz="2400" dirty="0">
              <a:solidFill>
                <a:srgbClr val="000000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Char char="●"/>
            </a:pPr>
            <a:r>
              <a:rPr lang="ru-RU" sz="2400" dirty="0">
                <a:solidFill>
                  <a:srgbClr val="000000"/>
                </a:solidFill>
              </a:rPr>
              <a:t>требует квалифицированных работников</a:t>
            </a:r>
            <a:endParaRPr sz="2400" dirty="0">
              <a:solidFill>
                <a:srgbClr val="000000"/>
              </a:solidFill>
            </a:endParaRPr>
          </a:p>
        </p:txBody>
      </p:sp>
      <p:sp>
        <p:nvSpPr>
          <p:cNvPr id="64" name="Google Shape;64;p1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Цель и задачи</a:t>
            </a:r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11700" y="1273942"/>
            <a:ext cx="8520600" cy="49436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rgbClr val="000000"/>
                </a:solidFill>
              </a:rPr>
              <a:t>Цель</a:t>
            </a:r>
            <a:r>
              <a:rPr lang="en" sz="2400" dirty="0">
                <a:solidFill>
                  <a:srgbClr val="000000"/>
                </a:solidFill>
              </a:rPr>
              <a:t>: </a:t>
            </a:r>
            <a:r>
              <a:rPr lang="ru-RU" sz="2400" dirty="0">
                <a:solidFill>
                  <a:srgbClr val="000000"/>
                </a:solidFill>
              </a:rPr>
              <a:t>разработать нейросетевую модель для прогнозирования риска заболеваний на основе многомерных клинических данных</a:t>
            </a:r>
            <a:r>
              <a:rPr lang="en" sz="2400" dirty="0">
                <a:solidFill>
                  <a:srgbClr val="000000"/>
                </a:solidFill>
              </a:rPr>
              <a:t>.</a:t>
            </a:r>
            <a:endParaRPr sz="24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rgbClr val="000000"/>
                </a:solidFill>
              </a:rPr>
              <a:t>Задачи</a:t>
            </a:r>
            <a:r>
              <a:rPr lang="en" sz="2400" dirty="0">
                <a:solidFill>
                  <a:srgbClr val="000000"/>
                </a:solidFill>
              </a:rPr>
              <a:t>:</a:t>
            </a:r>
            <a:endParaRPr sz="2400" dirty="0">
              <a:solidFill>
                <a:srgbClr val="000000"/>
              </a:solidFill>
            </a:endParaRPr>
          </a:p>
          <a:p>
            <a:pPr marL="457200" lvl="0" indent="-381000" algn="l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AutoNum type="arabicPeriod"/>
            </a:pPr>
            <a:r>
              <a:rPr lang="ru-RU" sz="2400" dirty="0">
                <a:solidFill>
                  <a:srgbClr val="000000"/>
                </a:solidFill>
              </a:rPr>
              <a:t>Обзор существующих подходов и аналогов</a:t>
            </a: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AutoNum type="arabicPeriod"/>
            </a:pPr>
            <a:r>
              <a:rPr lang="ru-RU" sz="2400" dirty="0">
                <a:solidFill>
                  <a:srgbClr val="000000"/>
                </a:solidFill>
              </a:rPr>
              <a:t>Спроектировать архитектуру глубокой нейронной сети</a:t>
            </a: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AutoNum type="arabicPeriod"/>
            </a:pPr>
            <a:r>
              <a:rPr lang="ru-RU" sz="2400" dirty="0">
                <a:solidFill>
                  <a:srgbClr val="000000"/>
                </a:solidFill>
              </a:rPr>
              <a:t>Реализовать модуль обучения и автоматического подбора </a:t>
            </a:r>
            <a:r>
              <a:rPr lang="ru-RU" sz="2400" dirty="0" err="1">
                <a:solidFill>
                  <a:srgbClr val="000000"/>
                </a:solidFill>
              </a:rPr>
              <a:t>гиперпараметров</a:t>
            </a:r>
            <a:endParaRPr sz="2400" dirty="0">
              <a:solidFill>
                <a:srgbClr val="000000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AutoNum type="arabicPeriod"/>
            </a:pPr>
            <a:r>
              <a:rPr lang="ru-RU" sz="2400" dirty="0">
                <a:solidFill>
                  <a:srgbClr val="000000"/>
                </a:solidFill>
              </a:rPr>
              <a:t>Разработать алгоритм подбора порога </a:t>
            </a:r>
            <a:r>
              <a:rPr lang="ru-RU" sz="2400" dirty="0" err="1">
                <a:solidFill>
                  <a:srgbClr val="000000"/>
                </a:solidFill>
              </a:rPr>
              <a:t>классификациии</a:t>
            </a:r>
            <a:endParaRPr lang="ru-RU" sz="2400" dirty="0">
              <a:solidFill>
                <a:srgbClr val="000000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AutoNum type="arabicPeriod"/>
            </a:pPr>
            <a:r>
              <a:rPr lang="ru-RU" sz="2400" dirty="0">
                <a:solidFill>
                  <a:srgbClr val="000000"/>
                </a:solidFill>
              </a:rPr>
              <a:t>Использовать систему объяснения решений SHAP </a:t>
            </a: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AutoNum type="arabicPeriod"/>
            </a:pPr>
            <a:endParaRPr lang="ru-RU" sz="2400" dirty="0">
              <a:solidFill>
                <a:srgbClr val="000000"/>
              </a:solidFill>
            </a:endParaRPr>
          </a:p>
        </p:txBody>
      </p:sp>
      <p:sp>
        <p:nvSpPr>
          <p:cNvPr id="64" name="Google Shape;64;p1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>
            <a:spLocks noGrp="1"/>
          </p:cNvSpPr>
          <p:nvPr>
            <p:ph type="title"/>
          </p:nvPr>
        </p:nvSpPr>
        <p:spPr>
          <a:xfrm>
            <a:off x="311700" y="255436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Задача 1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 dirty="0"/>
          </a:p>
        </p:txBody>
      </p:sp>
      <p:graphicFrame>
        <p:nvGraphicFramePr>
          <p:cNvPr id="78" name="Google Shape;78;p16"/>
          <p:cNvGraphicFramePr/>
          <p:nvPr>
            <p:extLst>
              <p:ext uri="{D42A27DB-BD31-4B8C-83A1-F6EECF244321}">
                <p14:modId xmlns:p14="http://schemas.microsoft.com/office/powerpoint/2010/main" val="1398045802"/>
              </p:ext>
            </p:extLst>
          </p:nvPr>
        </p:nvGraphicFramePr>
        <p:xfrm>
          <a:off x="311698" y="960781"/>
          <a:ext cx="8388352" cy="5446644"/>
        </p:xfrm>
        <a:graphic>
          <a:graphicData uri="http://schemas.openxmlformats.org/drawingml/2006/table">
            <a:tbl>
              <a:tblPr>
                <a:noFill/>
                <a:tableStyleId>{0F2622C5-1773-4020-970C-73601510C965}</a:tableStyleId>
              </a:tblPr>
              <a:tblGrid>
                <a:gridCol w="2097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70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70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70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382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b="1" dirty="0"/>
                        <a:t>Метод </a:t>
                      </a:r>
                      <a:endParaRPr sz="2400" b="1" dirty="0"/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b="1" dirty="0"/>
                        <a:t>Точность (</a:t>
                      </a:r>
                      <a:r>
                        <a:rPr lang="en-US" sz="2400" b="1" dirty="0"/>
                        <a:t>AUC)</a:t>
                      </a:r>
                      <a:endParaRPr sz="2400" b="1" dirty="0"/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b="1" dirty="0"/>
                        <a:t>Обработка данных</a:t>
                      </a:r>
                      <a:endParaRPr sz="2400" b="1" dirty="0"/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b="1" dirty="0"/>
                        <a:t>Интерпретируемость</a:t>
                      </a:r>
                      <a:endParaRPr sz="2400" b="1" dirty="0"/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349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dirty="0"/>
                        <a:t>GBDT (</a:t>
                      </a:r>
                      <a:r>
                        <a:rPr lang="en-US" sz="2400" dirty="0" err="1"/>
                        <a:t>XGBoost</a:t>
                      </a:r>
                      <a:r>
                        <a:rPr lang="en-US" sz="2400" dirty="0"/>
                        <a:t>/</a:t>
                      </a:r>
                      <a:r>
                        <a:rPr lang="en-US" sz="2400" dirty="0" err="1"/>
                        <a:t>CatBoost</a:t>
                      </a:r>
                      <a:r>
                        <a:rPr lang="en-US" sz="2400" dirty="0"/>
                        <a:t>)</a:t>
                      </a:r>
                      <a:endParaRPr sz="2400" dirty="0"/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Высокая (2)</a:t>
                      </a:r>
                      <a:endParaRPr sz="2400" dirty="0"/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Высокая (2)</a:t>
                      </a:r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Средняя (1)</a:t>
                      </a: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29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dirty="0"/>
                        <a:t>DNN / MLP</a:t>
                      </a:r>
                      <a:endParaRPr sz="24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Средняя (1)</a:t>
                      </a:r>
                      <a:endParaRPr sz="24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Средняя (1)</a:t>
                      </a:r>
                      <a:endParaRPr sz="2400" dirty="0"/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Средняя (1)</a:t>
                      </a:r>
                    </a:p>
                  </a:txBody>
                  <a:tcPr marL="91425" marR="91425" marT="91425" marB="91425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349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dirty="0"/>
                        <a:t>LSTM (</a:t>
                      </a:r>
                      <a:r>
                        <a:rPr lang="ru-RU" sz="2400" dirty="0"/>
                        <a:t>Рекуррентные)</a:t>
                      </a:r>
                      <a:endParaRPr sz="2400" dirty="0"/>
                    </a:p>
                  </a:txBody>
                  <a:tcPr marL="91425" marR="91425" marT="91425" marB="914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Низкая (0)</a:t>
                      </a:r>
                      <a:endParaRPr sz="2400" dirty="0"/>
                    </a:p>
                  </a:txBody>
                  <a:tcPr marL="91425" marR="91425" marT="91425" marB="914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Низкая (0)</a:t>
                      </a:r>
                    </a:p>
                  </a:txBody>
                  <a:tcPr marL="91425" marR="91425" marT="91425" marB="914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Средняя (1)</a:t>
                      </a:r>
                    </a:p>
                  </a:txBody>
                  <a:tcPr marL="91425" marR="91425" marT="91425" marB="914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854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Предложенный (</a:t>
                      </a:r>
                      <a:r>
                        <a:rPr lang="en-US" sz="2400" dirty="0"/>
                        <a:t>DNN+SHAP)</a:t>
                      </a:r>
                      <a:endParaRPr sz="2400" dirty="0"/>
                    </a:p>
                  </a:txBody>
                  <a:tcPr marL="91425" marR="91425" marT="91425" marB="91425" anchor="ctr"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Высокая (2)</a:t>
                      </a:r>
                    </a:p>
                  </a:txBody>
                  <a:tcPr marL="91425" marR="91425" marT="91425" marB="91425" anchor="ctr"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Средняя (1)</a:t>
                      </a:r>
                      <a:endParaRPr sz="2400" dirty="0"/>
                    </a:p>
                  </a:txBody>
                  <a:tcPr marL="91425" marR="91425" marT="91425" marB="91425" anchor="ctr"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2400" dirty="0"/>
                        <a:t>Высокая (2)</a:t>
                      </a:r>
                    </a:p>
                  </a:txBody>
                  <a:tcPr marL="91425" marR="91425" marT="91425" marB="91425" anchor="ctr"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Схема архитектуры DNN">
            <a:extLst>
              <a:ext uri="{FF2B5EF4-FFF2-40B4-BE49-F238E27FC236}">
                <a16:creationId xmlns:a16="http://schemas.microsoft.com/office/drawing/2014/main" id="{C0595B9D-0E22-F661-9692-2322A1DAA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4603" y="3247234"/>
            <a:ext cx="5542205" cy="3694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AA16AC5-7A70-F8E7-AF16-F94423D83A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4301" y="3372322"/>
            <a:ext cx="3703641" cy="563929"/>
          </a:xfrm>
          <a:prstGeom prst="rect">
            <a:avLst/>
          </a:prstGeom>
        </p:spPr>
      </p:pic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Задача 2</a:t>
            </a:r>
            <a:endParaRPr dirty="0"/>
          </a:p>
        </p:txBody>
      </p:sp>
      <p:sp>
        <p:nvSpPr>
          <p:cNvPr id="86" name="Google Shape;86;p1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F4FA3D-37E5-FB3B-5B24-779DAD5C7FC1}"/>
              </a:ext>
            </a:extLst>
          </p:cNvPr>
          <p:cNvSpPr txBox="1"/>
          <p:nvPr/>
        </p:nvSpPr>
        <p:spPr>
          <a:xfrm>
            <a:off x="263917" y="1264186"/>
            <a:ext cx="9244517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400" b="1" i="0" dirty="0">
                <a:solidFill>
                  <a:schemeClr val="tx1"/>
                </a:solidFill>
                <a:effectLst/>
                <a:latin typeface="+mn-lt"/>
              </a:rPr>
              <a:t>Модуль предобработки:</a:t>
            </a:r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en-US" sz="2400" b="0" i="0" dirty="0" err="1">
                <a:solidFill>
                  <a:schemeClr val="tx1"/>
                </a:solidFill>
                <a:effectLst/>
                <a:latin typeface="+mn-lt"/>
              </a:rPr>
              <a:t>StandardScaler</a:t>
            </a:r>
            <a:r>
              <a:rPr lang="en-US" sz="24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и алгоритмическое взвешивание классов (</a:t>
            </a:r>
            <a:r>
              <a:rPr lang="en-US" sz="2400" b="0" i="0" dirty="0">
                <a:solidFill>
                  <a:schemeClr val="tx1"/>
                </a:solidFill>
                <a:effectLst/>
                <a:latin typeface="+mn-lt"/>
              </a:rPr>
              <a:t>Class Weight).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1" i="0" dirty="0">
                <a:solidFill>
                  <a:schemeClr val="tx1"/>
                </a:solidFill>
                <a:effectLst/>
                <a:latin typeface="+mn-lt"/>
              </a:rPr>
              <a:t>Классификатор:</a:t>
            </a:r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 Глубокая сеть (до 4 слоев) с функциями </a:t>
            </a:r>
            <a:r>
              <a:rPr lang="en-US" sz="2400" b="0" i="0" dirty="0" err="1">
                <a:solidFill>
                  <a:schemeClr val="tx1"/>
                </a:solidFill>
                <a:effectLst/>
                <a:latin typeface="+mn-lt"/>
              </a:rPr>
              <a:t>ReLU</a:t>
            </a:r>
            <a:r>
              <a:rPr lang="en-US" sz="24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и </a:t>
            </a:r>
            <a:r>
              <a:rPr lang="en-US" sz="2400" b="0" i="0" dirty="0">
                <a:solidFill>
                  <a:schemeClr val="tx1"/>
                </a:solidFill>
                <a:effectLst/>
                <a:latin typeface="+mn-lt"/>
              </a:rPr>
              <a:t>Batch Normalization.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1" i="0" dirty="0">
                <a:solidFill>
                  <a:schemeClr val="tx1"/>
                </a:solidFill>
                <a:effectLst/>
                <a:latin typeface="+mn-lt"/>
              </a:rPr>
              <a:t>Оптимизатор:</a:t>
            </a:r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 Механизмы </a:t>
            </a:r>
            <a:r>
              <a:rPr lang="en-US" sz="2400" b="0" i="0" dirty="0">
                <a:solidFill>
                  <a:schemeClr val="tx1"/>
                </a:solidFill>
                <a:effectLst/>
                <a:latin typeface="+mn-lt"/>
              </a:rPr>
              <a:t>Dropout (0.5) </a:t>
            </a:r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для борьбы с переобучением.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1" i="0" dirty="0">
                <a:solidFill>
                  <a:schemeClr val="tx1"/>
                </a:solidFill>
                <a:effectLst/>
                <a:latin typeface="+mn-lt"/>
              </a:rPr>
              <a:t>Модуль </a:t>
            </a:r>
            <a:r>
              <a:rPr lang="en-US" sz="2400" b="1" i="0" dirty="0">
                <a:solidFill>
                  <a:schemeClr val="tx1"/>
                </a:solidFill>
                <a:effectLst/>
                <a:latin typeface="+mn-lt"/>
              </a:rPr>
              <a:t>SHAP:</a:t>
            </a:r>
            <a:r>
              <a:rPr lang="en-US" sz="2400" b="0" i="0" dirty="0">
                <a:solidFill>
                  <a:schemeClr val="tx1"/>
                </a:solidFill>
                <a:effectLst/>
                <a:latin typeface="+mn-lt"/>
              </a:rPr>
              <a:t> </a:t>
            </a:r>
            <a:r>
              <a:rPr lang="ru-RU" sz="2400" b="0" i="0" dirty="0">
                <a:solidFill>
                  <a:schemeClr val="tx1"/>
                </a:solidFill>
                <a:effectLst/>
                <a:latin typeface="+mn-lt"/>
              </a:rPr>
              <a:t>Генерация локальных и глобальных объяснений прогноза.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20F6DE-1BC5-986E-39AF-1F61D7438D02}"/>
              </a:ext>
            </a:extLst>
          </p:cNvPr>
          <p:cNvSpPr txBox="1"/>
          <p:nvPr/>
        </p:nvSpPr>
        <p:spPr>
          <a:xfrm>
            <a:off x="4824588" y="6326083"/>
            <a:ext cx="22028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Рисунок 1. Пример </a:t>
            </a:r>
            <a:r>
              <a:rPr lang="en-US" dirty="0"/>
              <a:t>DNN</a:t>
            </a:r>
            <a:endParaRPr lang="ru-R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Задача 3</a:t>
            </a:r>
            <a:endParaRPr/>
          </a:p>
        </p:txBody>
      </p:sp>
      <p:sp>
        <p:nvSpPr>
          <p:cNvPr id="93" name="Google Shape;93;p18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000000"/>
                </a:solidFill>
              </a:rPr>
              <a:t>Использование </a:t>
            </a:r>
            <a:r>
              <a:rPr lang="ru-RU" sz="2400" dirty="0" err="1">
                <a:solidFill>
                  <a:srgbClr val="000000"/>
                </a:solidFill>
              </a:rPr>
              <a:t>KerasTuner</a:t>
            </a:r>
            <a:r>
              <a:rPr lang="ru-RU" sz="2400" dirty="0">
                <a:solidFill>
                  <a:srgbClr val="000000"/>
                </a:solidFill>
              </a:rPr>
              <a:t> </a:t>
            </a:r>
            <a:r>
              <a:rPr lang="ru-RU" sz="2400" dirty="0" err="1">
                <a:solidFill>
                  <a:srgbClr val="000000"/>
                </a:solidFill>
              </a:rPr>
              <a:t>Hyperband</a:t>
            </a:r>
            <a:r>
              <a:rPr lang="ru-RU" sz="2400" dirty="0">
                <a:solidFill>
                  <a:srgbClr val="000000"/>
                </a:solidFill>
              </a:rPr>
              <a:t> для нахождения параметров нейронной сети: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2400" dirty="0">
              <a:solidFill>
                <a:srgbClr val="000000"/>
              </a:solidFill>
            </a:endParaRPr>
          </a:p>
          <a:p>
            <a:pPr marL="342900"/>
            <a:r>
              <a:rPr lang="ru-RU" sz="2400" dirty="0">
                <a:solidFill>
                  <a:srgbClr val="000000"/>
                </a:solidFill>
              </a:rPr>
              <a:t>Слои от 1 до 4 (выбрано 3).</a:t>
            </a:r>
          </a:p>
          <a:p>
            <a:pPr marL="342900"/>
            <a:r>
              <a:rPr lang="ru-RU" sz="2400" dirty="0">
                <a:solidFill>
                  <a:srgbClr val="000000"/>
                </a:solidFill>
              </a:rPr>
              <a:t>Нейроны 32 – 256 (выбрано 224 в скрытом слое).</a:t>
            </a:r>
          </a:p>
          <a:p>
            <a:pPr marL="342900"/>
            <a:r>
              <a:rPr lang="ru-RU" sz="2400" dirty="0">
                <a:solidFill>
                  <a:srgbClr val="000000"/>
                </a:solidFill>
              </a:rPr>
              <a:t>Скорость обучения 0.01 – 0.001.</a:t>
            </a:r>
          </a:p>
          <a:p>
            <a:pPr marL="342900"/>
            <a:r>
              <a:rPr lang="ru-RU" sz="2400" dirty="0">
                <a:solidFill>
                  <a:srgbClr val="000000"/>
                </a:solidFill>
              </a:rPr>
              <a:t>Метрика оптимизации PR-AUC.</a:t>
            </a:r>
          </a:p>
        </p:txBody>
      </p:sp>
      <p:sp>
        <p:nvSpPr>
          <p:cNvPr id="94" name="Google Shape;94;p1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Обучение</a:t>
            </a:r>
            <a:endParaRPr dirty="0"/>
          </a:p>
        </p:txBody>
      </p:sp>
      <p:sp>
        <p:nvSpPr>
          <p:cNvPr id="93" name="Google Shape;93;p18"/>
          <p:cNvSpPr txBox="1">
            <a:spLocks noGrp="1"/>
          </p:cNvSpPr>
          <p:nvPr>
            <p:ph type="body" idx="1"/>
          </p:nvPr>
        </p:nvSpPr>
        <p:spPr>
          <a:xfrm>
            <a:off x="311700" y="1365612"/>
            <a:ext cx="8520600" cy="9336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000000"/>
                </a:solidFill>
              </a:rPr>
              <a:t>Обучение проводилось до 100 эпох с ранней остановкой, на рисунке 2 представлены полученные метрики </a:t>
            </a:r>
          </a:p>
        </p:txBody>
      </p:sp>
      <p:sp>
        <p:nvSpPr>
          <p:cNvPr id="94" name="Google Shape;94;p1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F32441B-7FFB-FAAB-86E0-51C6FE31BC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385" y="2807666"/>
            <a:ext cx="8767773" cy="350216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C704229-F007-F22C-2CC4-9108F3B3A92A}"/>
              </a:ext>
            </a:extLst>
          </p:cNvPr>
          <p:cNvSpPr txBox="1"/>
          <p:nvPr/>
        </p:nvSpPr>
        <p:spPr>
          <a:xfrm>
            <a:off x="3300658" y="5956856"/>
            <a:ext cx="2542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Рисунок 2. Значения метрик</a:t>
            </a:r>
          </a:p>
        </p:txBody>
      </p:sp>
    </p:spTree>
    <p:extLst>
      <p:ext uri="{BB962C8B-B14F-4D97-AF65-F5344CB8AC3E}">
        <p14:creationId xmlns:p14="http://schemas.microsoft.com/office/powerpoint/2010/main" val="9201088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Задача 4</a:t>
            </a:r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Google Shape;101;p19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32187" y="4799640"/>
                <a:ext cx="9256370" cy="1417982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ru-RU" sz="2000" dirty="0">
                    <a:solidFill>
                      <a:srgbClr val="000000"/>
                    </a:solidFill>
                  </a:rPr>
                  <a:t>Максимизация метрики </a:t>
                </a:r>
                <a:r>
                  <a:rPr lang="en-US" sz="2000" dirty="0">
                    <a:solidFill>
                      <a:srgbClr val="000000"/>
                    </a:solidFill>
                  </a:rPr>
                  <a:t>F2-score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для снижения</a:t>
                </a:r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ложноотрицательных результатов:</a:t>
                </a: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0" lvl="0" indent="0">
                  <a:buNone/>
                </a:pPr>
                <a:r>
                  <a:rPr lang="en-US" sz="2000" dirty="0">
                    <a:solidFill>
                      <a:srgbClr val="000000"/>
                    </a:solidFill>
                  </a:rPr>
                  <a:t>F2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20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5⋅</m:t>
                        </m:r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Precision</m:t>
                        </m:r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⋅</m:t>
                        </m:r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Recall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4⋅</m:t>
                        </m:r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Precision</m:t>
                        </m:r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Recall</m:t>
                        </m:r>
                        <m:r>
                          <m:rPr>
                            <m:nor/>
                          </m:rPr>
                          <a:rPr lang="en-US" sz="2000" dirty="0">
                            <a:solidFill>
                              <a:srgbClr val="000000"/>
                            </a:solidFill>
                          </a:rPr>
                          <m:t> </m:t>
                        </m:r>
                      </m:den>
                    </m:f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Оптимальный порог: 0.46 (сдвиг от 0.5).</a:t>
                </a:r>
                <a:endParaRPr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01" name="Google Shape;101;p19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32187" y="4799640"/>
                <a:ext cx="9256370" cy="1417982"/>
              </a:xfrm>
              <a:prstGeom prst="rect">
                <a:avLst/>
              </a:prstGeom>
              <a:blipFill>
                <a:blip r:embed="rId3"/>
                <a:stretch>
                  <a:fillRect l="-658" b="-2575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" name="Google Shape;102;p1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pic>
        <p:nvPicPr>
          <p:cNvPr id="4" name="Рисунок 3" descr="Изображение выглядит как текст, График, линия, диаграмм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D7A87FC-917D-2285-567C-59F63ABFAC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2254" y="593367"/>
            <a:ext cx="6791746" cy="42448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66B5A6-58D1-AFAD-42B9-8E1DD75F17DB}"/>
              </a:ext>
            </a:extLst>
          </p:cNvPr>
          <p:cNvSpPr txBox="1"/>
          <p:nvPr/>
        </p:nvSpPr>
        <p:spPr>
          <a:xfrm>
            <a:off x="2415472" y="4530431"/>
            <a:ext cx="23455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Рисунок </a:t>
            </a:r>
            <a:r>
              <a:rPr lang="en-US" dirty="0"/>
              <a:t>3</a:t>
            </a:r>
            <a:r>
              <a:rPr lang="ru-RU" dirty="0"/>
              <a:t>. График порога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текст, снимок экрана, линия, диаграмм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7DCB577-E08C-F06F-9007-372DB864E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842" y="0"/>
            <a:ext cx="5775158" cy="6858000"/>
          </a:xfrm>
          <a:prstGeom prst="rect">
            <a:avLst/>
          </a:prstGeom>
        </p:spPr>
      </p:pic>
      <p:sp>
        <p:nvSpPr>
          <p:cNvPr id="92" name="Google Shape;92;p18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Задача </a:t>
            </a:r>
            <a:r>
              <a:rPr lang="ru-RU" dirty="0"/>
              <a:t>5</a:t>
            </a:r>
            <a:endParaRPr dirty="0"/>
          </a:p>
        </p:txBody>
      </p:sp>
      <p:sp>
        <p:nvSpPr>
          <p:cNvPr id="93" name="Google Shape;93;p18"/>
          <p:cNvSpPr txBox="1">
            <a:spLocks noGrp="1"/>
          </p:cNvSpPr>
          <p:nvPr>
            <p:ph type="body" idx="1"/>
          </p:nvPr>
        </p:nvSpPr>
        <p:spPr>
          <a:xfrm>
            <a:off x="205683" y="1401769"/>
            <a:ext cx="4472335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 err="1">
                <a:solidFill>
                  <a:srgbClr val="000000"/>
                </a:solidFill>
              </a:rPr>
              <a:t>GenHlth</a:t>
            </a:r>
            <a:r>
              <a:rPr lang="ru-RU" sz="2400" dirty="0">
                <a:solidFill>
                  <a:srgbClr val="000000"/>
                </a:solidFill>
              </a:rPr>
              <a:t> (Общее здоровье): доминирующий фактор влияния.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24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000000"/>
                </a:solidFill>
              </a:rPr>
              <a:t>BMI (Индекс массы тела): высокие значения резко повышают риск.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24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 err="1">
                <a:solidFill>
                  <a:srgbClr val="000000"/>
                </a:solidFill>
              </a:rPr>
              <a:t>PhysActivity</a:t>
            </a:r>
            <a:r>
              <a:rPr lang="ru-RU" sz="2400" dirty="0">
                <a:solidFill>
                  <a:srgbClr val="000000"/>
                </a:solidFill>
              </a:rPr>
              <a:t>: подтвержден защитный эффект физической активности.</a:t>
            </a:r>
          </a:p>
        </p:txBody>
      </p:sp>
      <p:sp>
        <p:nvSpPr>
          <p:cNvPr id="94" name="Google Shape;94;p1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7D16A5-E042-6E46-72CB-D2605D373827}"/>
              </a:ext>
            </a:extLst>
          </p:cNvPr>
          <p:cNvSpPr txBox="1"/>
          <p:nvPr/>
        </p:nvSpPr>
        <p:spPr>
          <a:xfrm>
            <a:off x="2876519" y="6523835"/>
            <a:ext cx="24497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/>
              <a:t>Рисунок 4. </a:t>
            </a:r>
            <a:r>
              <a:rPr lang="ru-RU" dirty="0"/>
              <a:t>Значения </a:t>
            </a:r>
            <a:r>
              <a:rPr lang="en-US" dirty="0"/>
              <a:t>SHAP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526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Тестирование</a:t>
            </a:r>
            <a:endParaRPr dirty="0"/>
          </a:p>
        </p:txBody>
      </p:sp>
      <p:sp>
        <p:nvSpPr>
          <p:cNvPr id="93" name="Google Shape;93;p18"/>
          <p:cNvSpPr txBox="1">
            <a:spLocks noGrp="1"/>
          </p:cNvSpPr>
          <p:nvPr>
            <p:ph type="body" idx="1"/>
          </p:nvPr>
        </p:nvSpPr>
        <p:spPr>
          <a:xfrm>
            <a:off x="311700" y="1400072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>
                <a:solidFill>
                  <a:srgbClr val="000000"/>
                </a:solidFill>
              </a:rPr>
              <a:t>Тестирование проведено на независимой выборке из 38052 пациентов.</a:t>
            </a:r>
          </a:p>
        </p:txBody>
      </p:sp>
      <p:sp>
        <p:nvSpPr>
          <p:cNvPr id="94" name="Google Shape;94;p1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AB054F2E-518E-F811-A11E-AAF9652719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54443"/>
              </p:ext>
            </p:extLst>
          </p:nvPr>
        </p:nvGraphicFramePr>
        <p:xfrm>
          <a:off x="3101008" y="2459942"/>
          <a:ext cx="5065161" cy="3933891"/>
        </p:xfrm>
        <a:graphic>
          <a:graphicData uri="http://schemas.openxmlformats.org/drawingml/2006/table">
            <a:tbl>
              <a:tblPr>
                <a:noFill/>
                <a:tableStyleId>{0F2622C5-1773-4020-970C-73601510C965}</a:tableStyleId>
              </a:tblPr>
              <a:tblGrid>
                <a:gridCol w="1688387">
                  <a:extLst>
                    <a:ext uri="{9D8B030D-6E8A-4147-A177-3AD203B41FA5}">
                      <a16:colId xmlns:a16="http://schemas.microsoft.com/office/drawing/2014/main" val="1549907003"/>
                    </a:ext>
                  </a:extLst>
                </a:gridCol>
                <a:gridCol w="1688387">
                  <a:extLst>
                    <a:ext uri="{9D8B030D-6E8A-4147-A177-3AD203B41FA5}">
                      <a16:colId xmlns:a16="http://schemas.microsoft.com/office/drawing/2014/main" val="2460768754"/>
                    </a:ext>
                  </a:extLst>
                </a:gridCol>
                <a:gridCol w="1688387">
                  <a:extLst>
                    <a:ext uri="{9D8B030D-6E8A-4147-A177-3AD203B41FA5}">
                      <a16:colId xmlns:a16="http://schemas.microsoft.com/office/drawing/2014/main" val="3049151479"/>
                    </a:ext>
                  </a:extLst>
                </a:gridCol>
              </a:tblGrid>
              <a:tr h="5400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 dirty="0"/>
                        <a:t>Метрика</a:t>
                      </a:r>
                      <a:endParaRPr sz="1600" b="1" dirty="0"/>
                    </a:p>
                  </a:txBody>
                  <a:tcPr marL="61942" marR="61942" marT="61942" marB="61942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 dirty="0"/>
                        <a:t>Значение (Порог 0.46)</a:t>
                      </a:r>
                      <a:endParaRPr sz="1600" b="1" dirty="0"/>
                    </a:p>
                  </a:txBody>
                  <a:tcPr marL="61942" marR="61942" marT="61942" marB="61942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 dirty="0"/>
                        <a:t>Интерпретация</a:t>
                      </a:r>
                      <a:endParaRPr sz="1600" b="1" dirty="0"/>
                    </a:p>
                  </a:txBody>
                  <a:tcPr marL="61942" marR="61942" marT="61942" marB="61942" anchor="ctr"/>
                </a:tc>
                <a:extLst>
                  <a:ext uri="{0D108BD9-81ED-4DB2-BD59-A6C34878D82A}">
                    <a16:rowId xmlns:a16="http://schemas.microsoft.com/office/drawing/2014/main" val="596607060"/>
                  </a:ext>
                </a:extLst>
              </a:tr>
              <a:tr h="75611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/>
                        <a:t>Recall (</a:t>
                      </a:r>
                      <a:r>
                        <a:rPr lang="ru-RU" sz="1600" dirty="0"/>
                        <a:t>Полнота)</a:t>
                      </a:r>
                      <a:endParaRPr sz="1600" dirty="0"/>
                    </a:p>
                  </a:txBody>
                  <a:tcPr marL="61942" marR="61942" marT="61942" marB="61942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84%</a:t>
                      </a:r>
                    </a:p>
                  </a:txBody>
                  <a:tcPr marL="61942" marR="61942" marT="61942" marB="61942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Выявление 84 из 100 больных</a:t>
                      </a:r>
                    </a:p>
                  </a:txBody>
                  <a:tcPr marL="61942" marR="61942" marT="61942" marB="61942" anchor="ctr"/>
                </a:tc>
                <a:extLst>
                  <a:ext uri="{0D108BD9-81ED-4DB2-BD59-A6C34878D82A}">
                    <a16:rowId xmlns:a16="http://schemas.microsoft.com/office/drawing/2014/main" val="4178435575"/>
                  </a:ext>
                </a:extLst>
              </a:tr>
              <a:tr h="72679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/>
                        <a:t>Precision (</a:t>
                      </a:r>
                      <a:r>
                        <a:rPr lang="ru-RU" sz="1600" dirty="0"/>
                        <a:t>Здоровые)</a:t>
                      </a:r>
                      <a:endParaRPr sz="1600" dirty="0"/>
                    </a:p>
                  </a:txBody>
                  <a:tcPr marL="61942" marR="61942" marT="61942" marB="61942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96%</a:t>
                      </a:r>
                      <a:endParaRPr sz="1600" dirty="0"/>
                    </a:p>
                  </a:txBody>
                  <a:tcPr marL="61942" marR="61942" marT="61942" marB="61942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Ошибка в норме лишь в 4% случаев</a:t>
                      </a:r>
                    </a:p>
                  </a:txBody>
                  <a:tcPr marL="61942" marR="61942" marT="61942" marB="61942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268595"/>
                  </a:ext>
                </a:extLst>
              </a:tr>
              <a:tr h="75611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/>
                        <a:t>ROC-AUC</a:t>
                      </a:r>
                      <a:endParaRPr sz="1600" dirty="0"/>
                    </a:p>
                  </a:txBody>
                  <a:tcPr marL="61942" marR="61942" marT="61942" marB="6194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0.83</a:t>
                      </a:r>
                    </a:p>
                  </a:txBody>
                  <a:tcPr marL="61942" marR="61942" marT="61942" marB="6194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Высокая разделяющая способность</a:t>
                      </a:r>
                    </a:p>
                  </a:txBody>
                  <a:tcPr marL="61942" marR="61942" marT="61942" marB="6194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5663771"/>
                  </a:ext>
                </a:extLst>
              </a:tr>
              <a:tr h="75901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Время прогноза</a:t>
                      </a:r>
                    </a:p>
                  </a:txBody>
                  <a:tcPr marL="61942" marR="61942" marT="61942" marB="6194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&lt; 100 мс</a:t>
                      </a:r>
                      <a:endParaRPr sz="1600" dirty="0"/>
                    </a:p>
                  </a:txBody>
                  <a:tcPr marL="61942" marR="61942" marT="61942" marB="6194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/>
                        <a:t>Работа в реальном времени</a:t>
                      </a:r>
                    </a:p>
                  </a:txBody>
                  <a:tcPr marL="61942" marR="61942" marT="61942" marB="6194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21835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62855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0"/>
          <p:cNvSpPr txBox="1">
            <a:spLocks noGrp="1"/>
          </p:cNvSpPr>
          <p:nvPr>
            <p:ph type="title"/>
          </p:nvPr>
        </p:nvSpPr>
        <p:spPr>
          <a:xfrm>
            <a:off x="311700" y="228932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Заключение</a:t>
            </a:r>
            <a:endParaRPr dirty="0"/>
          </a:p>
        </p:txBody>
      </p:sp>
      <p:sp>
        <p:nvSpPr>
          <p:cNvPr id="112" name="Google Shape;112;p20"/>
          <p:cNvSpPr txBox="1">
            <a:spLocks noGrp="1"/>
          </p:cNvSpPr>
          <p:nvPr>
            <p:ph type="body" idx="1"/>
          </p:nvPr>
        </p:nvSpPr>
        <p:spPr>
          <a:xfrm>
            <a:off x="226208" y="846658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ru-RU" sz="2000" dirty="0">
                <a:solidFill>
                  <a:schemeClr val="dk1"/>
                </a:solidFill>
              </a:rPr>
              <a:t>Проведен сравнительный анализ и обоснован выбор </a:t>
            </a:r>
            <a:r>
              <a:rPr lang="ru-RU" sz="2000" dirty="0" err="1">
                <a:solidFill>
                  <a:schemeClr val="dk1"/>
                </a:solidFill>
              </a:rPr>
              <a:t>полносвязной</a:t>
            </a:r>
            <a:r>
              <a:rPr lang="ru-RU" sz="2000" dirty="0">
                <a:solidFill>
                  <a:schemeClr val="dk1"/>
                </a:solidFill>
              </a:rPr>
              <a:t> нейронной сети в связке с методами интерпретируемости для работы с медицинскими данными.</a:t>
            </a: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ru-RU" sz="2000" dirty="0">
                <a:solidFill>
                  <a:schemeClr val="dk1"/>
                </a:solidFill>
              </a:rPr>
              <a:t>Спроектирована четырехслойная архитектура глубокой нейронной сети </a:t>
            </a: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ru-RU" sz="2000" dirty="0">
                <a:solidFill>
                  <a:schemeClr val="dk1"/>
                </a:solidFill>
              </a:rPr>
              <a:t>Реализован модуль автоматического подбора </a:t>
            </a:r>
            <a:r>
              <a:rPr lang="ru-RU" sz="2000" dirty="0" err="1">
                <a:solidFill>
                  <a:schemeClr val="dk1"/>
                </a:solidFill>
              </a:rPr>
              <a:t>гиперпараметров</a:t>
            </a:r>
            <a:r>
              <a:rPr lang="ru-RU" sz="2000" dirty="0">
                <a:solidFill>
                  <a:schemeClr val="dk1"/>
                </a:solidFill>
              </a:rPr>
              <a:t>, обеспечивший достижение показателя ROC-AUC на уровне 0.83</a:t>
            </a: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ru-RU" sz="2000" dirty="0">
                <a:solidFill>
                  <a:schemeClr val="dk1"/>
                </a:solidFill>
              </a:rPr>
              <a:t>Разработан алгоритм калибровки порога классификации по метрике F2-score, что повысило полноту до 84%.</a:t>
            </a: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lang="ru-RU" sz="2000" dirty="0">
                <a:solidFill>
                  <a:schemeClr val="dk1"/>
                </a:solidFill>
              </a:rPr>
              <a:t>Интегрирован модуль SHAP с наглядной визуализацией вклада каждого симптома в итоговый риск.</a:t>
            </a:r>
            <a:endParaRPr sz="2000" dirty="0"/>
          </a:p>
        </p:txBody>
      </p:sp>
      <p:sp>
        <p:nvSpPr>
          <p:cNvPr id="113" name="Google Shape;113;p2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7E33CE-3F33-9585-3DE3-F96202815CE7}"/>
              </a:ext>
            </a:extLst>
          </p:cNvPr>
          <p:cNvSpPr txBox="1"/>
          <p:nvPr/>
        </p:nvSpPr>
        <p:spPr>
          <a:xfrm>
            <a:off x="694353" y="4895780"/>
            <a:ext cx="786489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solidFill>
                  <a:schemeClr val="dk1"/>
                </a:solidFill>
              </a:rPr>
              <a:t>Направления дальнейших исследований: расширение спектра входных параметров, проведение на обезличенных данных локальных медицинских учреждений для проверки её стабильности вне рамок исходного датасета.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Апробация работы</a:t>
            </a:r>
            <a:endParaRPr/>
          </a:p>
        </p:txBody>
      </p:sp>
      <p:sp>
        <p:nvSpPr>
          <p:cNvPr id="119" name="Google Shape;119;p21"/>
          <p:cNvSpPr txBox="1">
            <a:spLocks noGrp="1"/>
          </p:cNvSpPr>
          <p:nvPr>
            <p:ph type="body" idx="1"/>
          </p:nvPr>
        </p:nvSpPr>
        <p:spPr>
          <a:xfrm>
            <a:off x="311700" y="1268300"/>
            <a:ext cx="8709300" cy="482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Char char="●"/>
            </a:pPr>
            <a:r>
              <a:rPr lang="en" sz="2400" dirty="0">
                <a:solidFill>
                  <a:srgbClr val="000000"/>
                </a:solidFill>
              </a:rPr>
              <a:t>Репозиторий проекта</a:t>
            </a:r>
            <a:r>
              <a:rPr lang="ru-RU" sz="2400" dirty="0">
                <a:solidFill>
                  <a:srgbClr val="000000"/>
                </a:solidFill>
              </a:rPr>
              <a:t> </a:t>
            </a:r>
            <a:r>
              <a:rPr lang="en-US" sz="2400" dirty="0">
                <a:solidFill>
                  <a:srgbClr val="000000"/>
                </a:solidFill>
                <a:hlinkClick r:id="rId3"/>
              </a:rPr>
              <a:t>https://github.com/Pryflas/diplom</a:t>
            </a:r>
            <a:endParaRPr lang="ru-RU" sz="2400" dirty="0">
              <a:solidFill>
                <a:srgbClr val="000000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Char char="●"/>
            </a:pPr>
            <a:endParaRPr sz="2400" dirty="0">
              <a:solidFill>
                <a:srgbClr val="000000"/>
              </a:solidFill>
            </a:endParaRPr>
          </a:p>
        </p:txBody>
      </p:sp>
      <p:sp>
        <p:nvSpPr>
          <p:cNvPr id="120" name="Google Shape;120;p2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579</Words>
  <Application>Microsoft Office PowerPoint</Application>
  <PresentationFormat>Экран (4:3)</PresentationFormat>
  <Paragraphs>106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Cambria Math</vt:lpstr>
      <vt:lpstr>Simple Light</vt:lpstr>
      <vt:lpstr>НЕЙРОННАЯ СЕТЬ ДЛЯ ПРОГНОЗИРОВАНИЯ РИСКА ЗАБОЛЕВАНИЙ НА ОСНОВЕ МНОГОМЕРНЫХ ДАННЫХ</vt:lpstr>
      <vt:lpstr>Актуальность работы.</vt:lpstr>
      <vt:lpstr>Цель и задачи</vt:lpstr>
      <vt:lpstr>Задача 1</vt:lpstr>
      <vt:lpstr>Задача 2</vt:lpstr>
      <vt:lpstr>Задача 3</vt:lpstr>
      <vt:lpstr>Обучение</vt:lpstr>
      <vt:lpstr>Задача 4</vt:lpstr>
      <vt:lpstr>Задача 5</vt:lpstr>
      <vt:lpstr>Тестирование</vt:lpstr>
      <vt:lpstr>Заключение</vt:lpstr>
      <vt:lpstr>Апробация работы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Женя Женя</cp:lastModifiedBy>
  <cp:revision>13</cp:revision>
  <dcterms:modified xsi:type="dcterms:W3CDTF">2026-06-11T11:56:26Z</dcterms:modified>
</cp:coreProperties>
</file>