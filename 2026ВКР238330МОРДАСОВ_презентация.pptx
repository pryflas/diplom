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60" r:id="rId6"/>
    <p:sldId id="261" r:id="rId7"/>
    <p:sldId id="268" r:id="rId8"/>
    <p:sldId id="262" r:id="rId9"/>
    <p:sldId id="269" r:id="rId10"/>
    <p:sldId id="270" r:id="rId11"/>
    <p:sldId id="263" r:id="rId12"/>
    <p:sldId id="264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622C5-1773-4020-970C-73601510C965}">
  <a:tblStyle styleId="{0F2622C5-1773-4020-970C-73601510C9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085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91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313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yflas/dipl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91080" y="1900541"/>
            <a:ext cx="8361839" cy="26859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/>
              <a:t>НЕЙРОННАЯ СЕТЬ ДЛЯ ПРОГНОЗИРОВАНИЯ РИСКА ЗАБОЛЕВАНИЙ НА ОСНОВЕ МНОГОМЕРНЫХ ДАННЫХ</a:t>
            </a:r>
            <a:endParaRPr sz="4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</a:t>
            </a:r>
            <a:r>
              <a:rPr lang="ru-RU" sz="1800" dirty="0">
                <a:solidFill>
                  <a:srgbClr val="000000"/>
                </a:solidFill>
              </a:rPr>
              <a:t>Мордасов Евгений Дмитриевич</a:t>
            </a:r>
            <a:r>
              <a:rPr lang="en" sz="1800" dirty="0">
                <a:solidFill>
                  <a:srgbClr val="000000"/>
                </a:solidFill>
              </a:rPr>
              <a:t>, гр. </a:t>
            </a:r>
            <a:r>
              <a:rPr lang="ru-RU" sz="1800" dirty="0">
                <a:solidFill>
                  <a:srgbClr val="000000"/>
                </a:solidFill>
              </a:rPr>
              <a:t>2383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</a:t>
            </a:r>
            <a:r>
              <a:rPr lang="ru-RU" sz="1800" dirty="0">
                <a:solidFill>
                  <a:srgbClr val="000000"/>
                </a:solidFill>
              </a:rPr>
              <a:t>Борисенко Константин Алексеевич</a:t>
            </a:r>
            <a:r>
              <a:rPr lang="en" sz="1800" dirty="0">
                <a:solidFill>
                  <a:srgbClr val="000000"/>
                </a:solidFill>
              </a:rPr>
              <a:t>, к.т.н., доцент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Санкт-Петербургский государственный электротехнический университет им.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В.И. Ульянова (Ленина)</a:t>
            </a:r>
            <a:endParaRPr sz="18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Санкт-Петербург, </a:t>
            </a:r>
            <a:r>
              <a:rPr lang="ru-RU" sz="1800" dirty="0">
                <a:solidFill>
                  <a:schemeClr val="tx1"/>
                </a:solidFill>
              </a:rPr>
              <a:t>2026</a:t>
            </a: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 работы.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</a:t>
            </a:r>
            <a:r>
              <a:rPr lang="ru-RU" sz="2400" dirty="0">
                <a:solidFill>
                  <a:srgbClr val="000000"/>
                </a:solidFill>
              </a:rPr>
              <a:t>своевременное прогнозирование заболевания позволяет снизить нагрузку на систему здравоохранения, уменьшить расходы, дает больше времени на исследование болезни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Ручная проверка: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ru-RU" sz="2400" dirty="0">
                <a:solidFill>
                  <a:srgbClr val="000000"/>
                </a:solidFill>
              </a:rPr>
              <a:t>требует квалифицированных работников</a:t>
            </a:r>
            <a:r>
              <a:rPr lang="en" sz="2400" dirty="0">
                <a:solidFill>
                  <a:srgbClr val="000000"/>
                </a:solidFill>
              </a:rPr>
              <a:t>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73942"/>
            <a:ext cx="8520600" cy="4943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</a:t>
            </a:r>
            <a:r>
              <a:rPr lang="ru-RU" sz="2400" dirty="0">
                <a:solidFill>
                  <a:srgbClr val="000000"/>
                </a:solidFill>
              </a:rPr>
              <a:t>разработать нейросетевую модель для прогнозирования риска заболеваний на основе многомерных клинических данных</a:t>
            </a:r>
            <a:r>
              <a:rPr lang="en" sz="2400" dirty="0">
                <a:solidFill>
                  <a:srgbClr val="000000"/>
                </a:solidFill>
              </a:rPr>
              <a:t>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Проанализировать существующие подходы и аналоги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Спроектировать архитектуру глубокой нейронной сети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Реализовать модуль обучения и автоматического подбора </a:t>
            </a:r>
            <a:r>
              <a:rPr lang="ru-RU" sz="2400" dirty="0" err="1">
                <a:solidFill>
                  <a:srgbClr val="000000"/>
                </a:solidFill>
              </a:rPr>
              <a:t>гиперпараметров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Разработать алгоритм подбора порога </a:t>
            </a:r>
            <a:r>
              <a:rPr lang="ru-RU" sz="2400" dirty="0" err="1">
                <a:solidFill>
                  <a:srgbClr val="000000"/>
                </a:solidFill>
              </a:rPr>
              <a:t>классификациии</a:t>
            </a: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Использовать систему объяснения решений SHAP 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endParaRPr lang="ru-RU"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55436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graphicFrame>
        <p:nvGraphicFramePr>
          <p:cNvPr id="78" name="Google Shape;78;p16"/>
          <p:cNvGraphicFramePr/>
          <p:nvPr>
            <p:extLst>
              <p:ext uri="{D42A27DB-BD31-4B8C-83A1-F6EECF244321}">
                <p14:modId xmlns:p14="http://schemas.microsoft.com/office/powerpoint/2010/main" val="1398045802"/>
              </p:ext>
            </p:extLst>
          </p:nvPr>
        </p:nvGraphicFramePr>
        <p:xfrm>
          <a:off x="311698" y="960781"/>
          <a:ext cx="8388352" cy="5446644"/>
        </p:xfrm>
        <a:graphic>
          <a:graphicData uri="http://schemas.openxmlformats.org/drawingml/2006/table">
            <a:tbl>
              <a:tblPr>
                <a:noFill/>
                <a:tableStyleId>{0F2622C5-1773-4020-970C-73601510C965}</a:tableStyleId>
              </a:tblPr>
              <a:tblGrid>
                <a:gridCol w="209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7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82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1" dirty="0"/>
                        <a:t>Метод </a:t>
                      </a:r>
                      <a:endParaRPr sz="24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1" dirty="0"/>
                        <a:t>Точность (</a:t>
                      </a:r>
                      <a:r>
                        <a:rPr lang="en-US" sz="2400" b="1" dirty="0"/>
                        <a:t>AUC)</a:t>
                      </a:r>
                      <a:endParaRPr sz="24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1" dirty="0"/>
                        <a:t>Обработка данных</a:t>
                      </a:r>
                      <a:endParaRPr sz="24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1" dirty="0"/>
                        <a:t>Интерпретируемость</a:t>
                      </a:r>
                      <a:endParaRPr sz="2400" b="1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49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GBDT (</a:t>
                      </a:r>
                      <a:r>
                        <a:rPr lang="en-US" sz="2400" dirty="0" err="1"/>
                        <a:t>XGBoost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CatBoost</a:t>
                      </a:r>
                      <a:r>
                        <a:rPr lang="en-US" sz="2400" dirty="0"/>
                        <a:t>)</a:t>
                      </a:r>
                      <a:endParaRPr sz="24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Высокая (2)</a:t>
                      </a:r>
                      <a:endParaRPr sz="24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Высокая (2)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Средняя (1)</a:t>
                      </a: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90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DNN / MLP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Средняя (1)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Средняя (1)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Средняя (1)</a:t>
                      </a:r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349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LSTM (</a:t>
                      </a:r>
                      <a:r>
                        <a:rPr lang="ru-RU" sz="2400" dirty="0"/>
                        <a:t>Рекуррентные)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Низкая (0)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Низкая (0)</a:t>
                      </a:r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Средняя (1)</a:t>
                      </a:r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85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Предложенный (</a:t>
                      </a:r>
                      <a:r>
                        <a:rPr lang="en-US" sz="2400" dirty="0"/>
                        <a:t>DNN+SHAP)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Высокая (2)</a:t>
                      </a:r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Средняя (1)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dirty="0"/>
                        <a:t>Высокая (2)</a:t>
                      </a:r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Схема архитектуры DNN">
            <a:extLst>
              <a:ext uri="{FF2B5EF4-FFF2-40B4-BE49-F238E27FC236}">
                <a16:creationId xmlns:a16="http://schemas.microsoft.com/office/drawing/2014/main" id="{C0595B9D-0E22-F661-9692-2322A1DAA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603" y="3247234"/>
            <a:ext cx="5542205" cy="369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A16AC5-7A70-F8E7-AF16-F94423D83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301" y="3372322"/>
            <a:ext cx="3703641" cy="563929"/>
          </a:xfrm>
          <a:prstGeom prst="rect">
            <a:avLst/>
          </a:prstGeom>
        </p:spPr>
      </p:pic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4FA3D-37E5-FB3B-5B24-779DAD5C7FC1}"/>
              </a:ext>
            </a:extLst>
          </p:cNvPr>
          <p:cNvSpPr txBox="1"/>
          <p:nvPr/>
        </p:nvSpPr>
        <p:spPr>
          <a:xfrm>
            <a:off x="263917" y="1264186"/>
            <a:ext cx="92445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Модуль предобработки: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+mn-lt"/>
              </a:rPr>
              <a:t>StandardScaler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и алгоритмическое взвешивание классов (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Class Weight).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Классификатор: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 Глубокая сеть (до 4 слоев) с функциями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+mn-lt"/>
              </a:rPr>
              <a:t>ReLU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и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Batch Normalization.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Оптимизатор: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 Механизмы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Dropout (0.5)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для борьбы с переобучением.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Модуль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SHAP: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Генерация локальных и глобальных объяснений прогноза.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Использование </a:t>
            </a:r>
            <a:r>
              <a:rPr lang="ru-RU" sz="2400" dirty="0" err="1">
                <a:solidFill>
                  <a:srgbClr val="000000"/>
                </a:solidFill>
              </a:rPr>
              <a:t>KerasTuner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Hyperband</a:t>
            </a:r>
            <a:r>
              <a:rPr lang="ru-RU" sz="2400" dirty="0">
                <a:solidFill>
                  <a:srgbClr val="000000"/>
                </a:solidFill>
              </a:rPr>
              <a:t> для нахождения параметров нейронной сети: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>
              <a:solidFill>
                <a:srgbClr val="000000"/>
              </a:solidFill>
            </a:endParaRP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Слои от 1 до 4 (выбрано 3).</a:t>
            </a: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Нейроны 32 – 256 (выбрано 224 в скрытом слое).</a:t>
            </a: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Скорость обучения 0.01 – 0.001.</a:t>
            </a: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Метрика оптимизации PR-AUC.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Обучение проводилось до 100 эпох с ранней остановкой 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32441B-7FFB-FAAB-86E0-51C6FE31B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3" y="2652562"/>
            <a:ext cx="8767773" cy="350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Google Shape;101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32187" y="4799640"/>
                <a:ext cx="9256370" cy="141798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 dirty="0">
                    <a:solidFill>
                      <a:srgbClr val="000000"/>
                    </a:solidFill>
                  </a:rPr>
                  <a:t>Максимизация метрики </a:t>
                </a:r>
                <a:r>
                  <a:rPr lang="en-US" sz="2000" dirty="0">
                    <a:solidFill>
                      <a:srgbClr val="000000"/>
                    </a:solidFill>
                  </a:rPr>
                  <a:t>F2-score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для снижения</a:t>
                </a:r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ложноотрицательных результатов: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0" lvl="0" indent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F2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5⋅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Precision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⋅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Recall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4⋅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Precision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Recall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Оптимальный порог: 0.46 (сдвиг от 0.5).</a:t>
                </a:r>
                <a:endParaRPr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1" name="Google Shape;101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2187" y="4799640"/>
                <a:ext cx="9256370" cy="1417982"/>
              </a:xfrm>
              <a:prstGeom prst="rect">
                <a:avLst/>
              </a:prstGeom>
              <a:blipFill>
                <a:blip r:embed="rId3"/>
                <a:stretch>
                  <a:fillRect l="-658" b="-257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4" name="Рисунок 3" descr="Изображение выглядит как текст, График, линия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D7A87FC-917D-2285-567C-59F63ABFA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254" y="593367"/>
            <a:ext cx="6791746" cy="42448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линия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7DCB577-E08C-F06F-9007-372DB864E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42" y="0"/>
            <a:ext cx="5775158" cy="6858000"/>
          </a:xfrm>
          <a:prstGeom prst="rect">
            <a:avLst/>
          </a:prstGeom>
        </p:spPr>
      </p:pic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205683" y="1401769"/>
            <a:ext cx="4472335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solidFill>
                  <a:srgbClr val="000000"/>
                </a:solidFill>
              </a:rPr>
              <a:t>GenHlth</a:t>
            </a:r>
            <a:r>
              <a:rPr lang="ru-RU" sz="2400" dirty="0">
                <a:solidFill>
                  <a:srgbClr val="000000"/>
                </a:solidFill>
              </a:rPr>
              <a:t> (Общее здоровье): доминирующий фактор влияния.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BMI (Индекс массы тела): высокие значения резко повышают риск.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solidFill>
                  <a:srgbClr val="000000"/>
                </a:solidFill>
              </a:rPr>
              <a:t>PhysActivity</a:t>
            </a:r>
            <a:r>
              <a:rPr lang="ru-RU" sz="2400" dirty="0">
                <a:solidFill>
                  <a:srgbClr val="000000"/>
                </a:solidFill>
              </a:rPr>
              <a:t>: подтвержден защитный эффект физической активности.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52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Тестирование</a:t>
            </a:r>
            <a:endParaRPr dirty="0"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400072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Тестирование проведено на независимой выборке из 38 052 пациентов.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B054F2E-518E-F811-A11E-AAF965271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54443"/>
              </p:ext>
            </p:extLst>
          </p:nvPr>
        </p:nvGraphicFramePr>
        <p:xfrm>
          <a:off x="3101008" y="2459942"/>
          <a:ext cx="5065161" cy="3933891"/>
        </p:xfrm>
        <a:graphic>
          <a:graphicData uri="http://schemas.openxmlformats.org/drawingml/2006/table">
            <a:tbl>
              <a:tblPr>
                <a:noFill/>
                <a:tableStyleId>{0F2622C5-1773-4020-970C-73601510C965}</a:tableStyleId>
              </a:tblPr>
              <a:tblGrid>
                <a:gridCol w="1688387">
                  <a:extLst>
                    <a:ext uri="{9D8B030D-6E8A-4147-A177-3AD203B41FA5}">
                      <a16:colId xmlns:a16="http://schemas.microsoft.com/office/drawing/2014/main" val="1549907003"/>
                    </a:ext>
                  </a:extLst>
                </a:gridCol>
                <a:gridCol w="1688387">
                  <a:extLst>
                    <a:ext uri="{9D8B030D-6E8A-4147-A177-3AD203B41FA5}">
                      <a16:colId xmlns:a16="http://schemas.microsoft.com/office/drawing/2014/main" val="2460768754"/>
                    </a:ext>
                  </a:extLst>
                </a:gridCol>
                <a:gridCol w="1688387">
                  <a:extLst>
                    <a:ext uri="{9D8B030D-6E8A-4147-A177-3AD203B41FA5}">
                      <a16:colId xmlns:a16="http://schemas.microsoft.com/office/drawing/2014/main" val="3049151479"/>
                    </a:ext>
                  </a:extLst>
                </a:gridCol>
              </a:tblGrid>
              <a:tr h="5400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/>
                        <a:t>Метрика</a:t>
                      </a:r>
                      <a:endParaRPr sz="1600" b="1" dirty="0"/>
                    </a:p>
                  </a:txBody>
                  <a:tcPr marL="61942" marR="61942" marT="61942" marB="61942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/>
                        <a:t>Значение (Порог 0.46)</a:t>
                      </a:r>
                      <a:endParaRPr sz="1600" b="1" dirty="0"/>
                    </a:p>
                  </a:txBody>
                  <a:tcPr marL="61942" marR="61942" marT="61942" marB="61942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/>
                        <a:t>Интерпретация</a:t>
                      </a:r>
                      <a:endParaRPr sz="1600" b="1" dirty="0"/>
                    </a:p>
                  </a:txBody>
                  <a:tcPr marL="61942" marR="61942" marT="61942" marB="61942" anchor="ctr"/>
                </a:tc>
                <a:extLst>
                  <a:ext uri="{0D108BD9-81ED-4DB2-BD59-A6C34878D82A}">
                    <a16:rowId xmlns:a16="http://schemas.microsoft.com/office/drawing/2014/main" val="596607060"/>
                  </a:ext>
                </a:extLst>
              </a:tr>
              <a:tr h="756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Recall (</a:t>
                      </a:r>
                      <a:r>
                        <a:rPr lang="ru-RU" sz="1600" dirty="0"/>
                        <a:t>Полнота)</a:t>
                      </a:r>
                      <a:endParaRPr sz="1600" dirty="0"/>
                    </a:p>
                  </a:txBody>
                  <a:tcPr marL="61942" marR="61942" marT="61942" marB="61942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84%</a:t>
                      </a:r>
                    </a:p>
                  </a:txBody>
                  <a:tcPr marL="61942" marR="61942" marT="61942" marB="61942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Выявление 84 из 100 больных</a:t>
                      </a:r>
                    </a:p>
                  </a:txBody>
                  <a:tcPr marL="61942" marR="61942" marT="61942" marB="61942" anchor="ctr"/>
                </a:tc>
                <a:extLst>
                  <a:ext uri="{0D108BD9-81ED-4DB2-BD59-A6C34878D82A}">
                    <a16:rowId xmlns:a16="http://schemas.microsoft.com/office/drawing/2014/main" val="4178435575"/>
                  </a:ext>
                </a:extLst>
              </a:tr>
              <a:tr h="72679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Precision (</a:t>
                      </a:r>
                      <a:r>
                        <a:rPr lang="ru-RU" sz="1600" dirty="0"/>
                        <a:t>Здоровые)</a:t>
                      </a:r>
                      <a:endParaRPr sz="1600" dirty="0"/>
                    </a:p>
                  </a:txBody>
                  <a:tcPr marL="61942" marR="61942" marT="61942" marB="619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96%</a:t>
                      </a:r>
                      <a:endParaRPr sz="1600" dirty="0"/>
                    </a:p>
                  </a:txBody>
                  <a:tcPr marL="61942" marR="61942" marT="61942" marB="619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Ошибка в норме лишь в 4% случаев</a:t>
                      </a:r>
                    </a:p>
                  </a:txBody>
                  <a:tcPr marL="61942" marR="61942" marT="61942" marB="619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68595"/>
                  </a:ext>
                </a:extLst>
              </a:tr>
              <a:tr h="756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ROC-AUC</a:t>
                      </a:r>
                      <a:endParaRPr sz="1600" dirty="0"/>
                    </a:p>
                  </a:txBody>
                  <a:tcPr marL="61942" marR="61942" marT="61942" marB="61942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0.83</a:t>
                      </a:r>
                    </a:p>
                  </a:txBody>
                  <a:tcPr marL="61942" marR="61942" marT="61942" marB="61942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Высокая разделяющая способность</a:t>
                      </a:r>
                    </a:p>
                  </a:txBody>
                  <a:tcPr marL="61942" marR="61942" marT="61942" marB="6194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663771"/>
                  </a:ext>
                </a:extLst>
              </a:tr>
              <a:tr h="7590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Время прогноза</a:t>
                      </a:r>
                    </a:p>
                  </a:txBody>
                  <a:tcPr marL="61942" marR="61942" marT="61942" marB="61942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&lt; 100 мс</a:t>
                      </a:r>
                      <a:endParaRPr sz="1600" dirty="0"/>
                    </a:p>
                  </a:txBody>
                  <a:tcPr marL="61942" marR="61942" marT="61942" marB="61942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/>
                        <a:t>Работа в реальном времени</a:t>
                      </a:r>
                    </a:p>
                  </a:txBody>
                  <a:tcPr marL="61942" marR="61942" marT="61942" marB="6194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183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28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 dirty="0">
                <a:solidFill>
                  <a:schemeClr val="dk1"/>
                </a:solidFill>
              </a:rPr>
              <a:t>Разработана нейросетевая модель с точностью ROC-AUC 0.83.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 dirty="0">
                <a:solidFill>
                  <a:schemeClr val="dk1"/>
                </a:solidFill>
              </a:rPr>
              <a:t>Реализована оптимизация порога, повысившая </a:t>
            </a:r>
            <a:r>
              <a:rPr lang="ru-RU" sz="2400" dirty="0" err="1">
                <a:solidFill>
                  <a:schemeClr val="dk1"/>
                </a:solidFill>
              </a:rPr>
              <a:t>Recall</a:t>
            </a:r>
            <a:r>
              <a:rPr lang="ru-RU" sz="2400" dirty="0">
                <a:solidFill>
                  <a:schemeClr val="dk1"/>
                </a:solidFill>
              </a:rPr>
              <a:t> до 84%.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 dirty="0">
                <a:solidFill>
                  <a:schemeClr val="dk1"/>
                </a:solidFill>
              </a:rPr>
              <a:t>Обеспечена интерпретируемость результатов через алгоритм SHAP.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 dirty="0">
                <a:solidFill>
                  <a:schemeClr val="dk1"/>
                </a:solidFill>
              </a:rPr>
              <a:t>Спроектирована отказоустойчивая архитектура для работы с табличными данными.</a:t>
            </a:r>
            <a:endParaRPr dirty="0"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Репозиторий проекта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  <a:hlinkClick r:id="rId3"/>
              </a:rPr>
              <a:t>https://github.com/Pryflas/diplom</a:t>
            </a: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496</Words>
  <Application>Microsoft Office PowerPoint</Application>
  <PresentationFormat>Экран (4:3)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Cambria Math</vt:lpstr>
      <vt:lpstr>Simple Light</vt:lpstr>
      <vt:lpstr>НЕЙРОННАЯ СЕТЬ ДЛЯ ПРОГНОЗИРОВАНИЯ РИСКА ЗАБОЛЕВАНИЙ НА ОСНОВЕ МНОГОМЕРНЫХ ДАННЫХ</vt:lpstr>
      <vt:lpstr>Актуальность работы.</vt:lpstr>
      <vt:lpstr>Цель и задачи</vt:lpstr>
      <vt:lpstr>Задача 1</vt:lpstr>
      <vt:lpstr>Задача 2</vt:lpstr>
      <vt:lpstr>Задача 3</vt:lpstr>
      <vt:lpstr>Задача 3</vt:lpstr>
      <vt:lpstr>Задача 4</vt:lpstr>
      <vt:lpstr>Задача 5</vt:lpstr>
      <vt:lpstr>Тестирование</vt:lpstr>
      <vt:lpstr>Заключение</vt:lpstr>
      <vt:lpstr>Апробация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Женя Женя</cp:lastModifiedBy>
  <cp:revision>3</cp:revision>
  <dcterms:modified xsi:type="dcterms:W3CDTF">2026-05-12T00:19:56Z</dcterms:modified>
</cp:coreProperties>
</file>